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7" r:id="rId3"/>
    <p:sldId id="258" r:id="rId4"/>
    <p:sldId id="259" r:id="rId5"/>
    <p:sldId id="260" r:id="rId6"/>
    <p:sldId id="262" r:id="rId7"/>
    <p:sldId id="261" r:id="rId8"/>
    <p:sldId id="263" r:id="rId9"/>
  </p:sldIdLst>
  <p:sldSz cx="18288000" cy="10287000"/>
  <p:notesSz cx="6858000" cy="9144000"/>
  <p:embeddedFontLst>
    <p:embeddedFont>
      <p:font typeface="Source Han Sans JP Bold" panose="020B0600070205080204" charset="-128"/>
      <p:regular r:id="rId11"/>
    </p:embeddedFont>
    <p:embeddedFont>
      <p:font typeface="モトヤゴシック w" panose="020B0600070205080204" charset="-128"/>
      <p:regular r:id="rId12"/>
    </p:embeddedFont>
    <p:embeddedFont>
      <p:font typeface="モトヤゴシック w Bold" panose="020B0600070205080204" charset="-128"/>
      <p:regular r:id="rId13"/>
    </p:embeddedFont>
    <p:embeddedFont>
      <p:font typeface="モトヤゴシック w Medium" panose="020B0600070205080204" charset="-128"/>
      <p:regular r:id="rId14"/>
    </p:embeddedFont>
    <p:embeddedFont>
      <p:font typeface="モトヤゴシック w Semi-Bold" panose="020B0600070205080204" charset="-128"/>
      <p:regular r:id="rId15"/>
    </p:embeddedFont>
    <p:embeddedFont>
      <p:font typeface="游ゴシック" panose="020B0400000000000000" pitchFamily="50" charset="-128"/>
      <p:regular r:id="rId16"/>
      <p:bold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62100" autoAdjust="0"/>
  </p:normalViewPr>
  <p:slideViewPr>
    <p:cSldViewPr>
      <p:cViewPr varScale="1">
        <p:scale>
          <a:sx n="28" d="100"/>
          <a:sy n="28" d="100"/>
        </p:scale>
        <p:origin x="1836" y="1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66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F5A3D9-BBEF-4F36-9367-DC3593CEE025}" type="datetimeFigureOut">
              <a:rPr kumimoji="1" lang="ja-JP" altLang="en-US" smtClean="0"/>
              <a:t>2026/10/23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60DC09-7382-48E6-8AA7-CC2AC4AFF05D}" type="slidenum">
              <a:rPr kumimoji="1" lang="ja-JP" altLang="en-US" smtClean="0"/>
              <a:t>‹#›</a:t>
            </a:fld>
            <a:endParaRPr kumimoji="1" lang="ja-JP" altLang="en-US"/>
          </a:p>
        </p:txBody>
      </p:sp>
    </p:spTree>
    <p:extLst>
      <p:ext uri="{BB962C8B-B14F-4D97-AF65-F5344CB8AC3E}">
        <p14:creationId xmlns:p14="http://schemas.microsoft.com/office/powerpoint/2010/main" val="189038893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これから、私たちが考えた地震被害度測定システムについて発表します。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6360DC09-7382-48E6-8AA7-CC2AC4AFF05D}" type="slidenum">
              <a:rPr kumimoji="1" lang="ja-JP" altLang="en-US" smtClean="0"/>
              <a:t>1</a:t>
            </a:fld>
            <a:endParaRPr kumimoji="1" lang="ja-JP" altLang="en-US"/>
          </a:p>
        </p:txBody>
      </p:sp>
    </p:spTree>
    <p:extLst>
      <p:ext uri="{BB962C8B-B14F-4D97-AF65-F5344CB8AC3E}">
        <p14:creationId xmlns:p14="http://schemas.microsoft.com/office/powerpoint/2010/main" val="1690417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皆さんは、今までに大きな地震を経験したことがありますか？</a:t>
            </a:r>
          </a:p>
          <a:p>
            <a:endParaRPr kumimoji="1" lang="ja-JP" altLang="en-US" dirty="0"/>
          </a:p>
          <a:p>
            <a:r>
              <a:rPr kumimoji="1" lang="ja-JP" altLang="en-US" dirty="0"/>
              <a:t>ここにいるほとんどの人は、経験したことがあると思います。</a:t>
            </a:r>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クリック</a:t>
            </a:r>
          </a:p>
          <a:p>
            <a:r>
              <a:rPr kumimoji="1" lang="ja-JP" altLang="en-US" dirty="0"/>
              <a:t>では、地震の後に</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クリック</a:t>
            </a:r>
            <a:endParaRPr kumimoji="1" lang="en-US" altLang="ja-JP" dirty="0"/>
          </a:p>
          <a:p>
            <a:r>
              <a:rPr kumimoji="1" lang="ja-JP" altLang="en-US" dirty="0"/>
              <a:t>自分の家の壁にひび割れがあった場合、</a:t>
            </a:r>
            <a:endParaRPr kumimoji="1" lang="en-US" altLang="ja-JP" dirty="0"/>
          </a:p>
          <a:p>
            <a:r>
              <a:rPr kumimoji="1" lang="ja-JP" altLang="en-US" dirty="0"/>
              <a:t>そのひび割れが危険なものなのか、大丈夫なのか判断できますか？</a:t>
            </a:r>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クリック</a:t>
            </a:r>
          </a:p>
          <a:p>
            <a:r>
              <a:rPr kumimoji="1" lang="ja-JP" altLang="en-US" dirty="0"/>
              <a:t>専門的な知識がなければ、判断するのは難しいと思います。</a:t>
            </a:r>
          </a:p>
        </p:txBody>
      </p:sp>
      <p:sp>
        <p:nvSpPr>
          <p:cNvPr id="4" name="スライド番号プレースホルダー 3"/>
          <p:cNvSpPr>
            <a:spLocks noGrp="1"/>
          </p:cNvSpPr>
          <p:nvPr>
            <p:ph type="sldNum" sz="quarter" idx="5"/>
          </p:nvPr>
        </p:nvSpPr>
        <p:spPr/>
        <p:txBody>
          <a:bodyPr/>
          <a:lstStyle/>
          <a:p>
            <a:fld id="{6360DC09-7382-48E6-8AA7-CC2AC4AFF05D}" type="slidenum">
              <a:rPr kumimoji="1" lang="ja-JP" altLang="en-US" smtClean="0"/>
              <a:t>2</a:t>
            </a:fld>
            <a:endParaRPr kumimoji="1" lang="ja-JP" altLang="en-US"/>
          </a:p>
        </p:txBody>
      </p:sp>
    </p:spTree>
    <p:extLst>
      <p:ext uri="{BB962C8B-B14F-4D97-AF65-F5344CB8AC3E}">
        <p14:creationId xmlns:p14="http://schemas.microsoft.com/office/powerpoint/2010/main" val="15848915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さらに、地震が起きた後、建物に被害があったとしても、すぐに業者が来てくれるとは限りません。</a:t>
            </a:r>
            <a:endParaRPr kumimoji="1" lang="en-US" altLang="ja-JP" dirty="0"/>
          </a:p>
          <a:p>
            <a:endParaRPr kumimoji="1" lang="ja-JP" altLang="en-US" dirty="0"/>
          </a:p>
          <a:p>
            <a:r>
              <a:rPr kumimoji="1" lang="ja-JP" altLang="en-US" dirty="0"/>
              <a:t>クリック</a:t>
            </a:r>
          </a:p>
          <a:p>
            <a:r>
              <a:rPr kumimoji="1" lang="ja-JP" altLang="en-US" dirty="0"/>
              <a:t>実際に、業者が来て建物を確認してもらうまでに、</a:t>
            </a:r>
            <a:r>
              <a:rPr kumimoji="1" lang="en-US" altLang="ja-JP" dirty="0"/>
              <a:t>1</a:t>
            </a:r>
            <a:r>
              <a:rPr kumimoji="1" lang="ja-JP" altLang="en-US" dirty="0"/>
              <a:t>～</a:t>
            </a:r>
            <a:r>
              <a:rPr kumimoji="1" lang="en-US" altLang="ja-JP" dirty="0"/>
              <a:t>2</a:t>
            </a:r>
            <a:r>
              <a:rPr kumimoji="1" lang="ja-JP" altLang="en-US" dirty="0"/>
              <a:t>週間ほどかかる場合があります。</a:t>
            </a:r>
          </a:p>
          <a:p>
            <a:endParaRPr kumimoji="1" lang="en-US" altLang="ja-JP" dirty="0"/>
          </a:p>
          <a:p>
            <a:r>
              <a:rPr kumimoji="1" lang="ja-JP" altLang="en-US" dirty="0"/>
              <a:t>クリック</a:t>
            </a:r>
          </a:p>
          <a:p>
            <a:r>
              <a:rPr kumimoji="1" lang="ja-JP" altLang="en-US" dirty="0"/>
              <a:t>また、業者が来たとしても、基本的には建物の外側から確認するため、外から見ただけでは分からない被害もあります。</a:t>
            </a:r>
          </a:p>
          <a:p>
            <a:endParaRPr kumimoji="1" lang="en-US" altLang="ja-JP" dirty="0"/>
          </a:p>
          <a:p>
            <a:r>
              <a:rPr kumimoji="1" lang="ja-JP" altLang="en-US" dirty="0"/>
              <a:t>クリック</a:t>
            </a:r>
          </a:p>
          <a:p>
            <a:r>
              <a:rPr kumimoji="1" lang="ja-JP" altLang="en-US" dirty="0"/>
              <a:t>そして、地震後の不安な状況では、点検商法などの詐欺が発生することもあり、知らない業者に依頼することへの不安もあります。</a:t>
            </a:r>
          </a:p>
          <a:p>
            <a:endParaRPr kumimoji="1" lang="en-US" altLang="ja-JP" dirty="0"/>
          </a:p>
          <a:p>
            <a:r>
              <a:rPr kumimoji="1" lang="ja-JP" altLang="en-US" dirty="0"/>
              <a:t>クリック</a:t>
            </a:r>
          </a:p>
          <a:p>
            <a:r>
              <a:rPr kumimoji="1" lang="ja-JP" altLang="en-US" dirty="0"/>
              <a:t>このように、地震の後に「この建物は本当に大丈夫なのか？」と不安に感じても、すぐに自分で判断することが難しいという課題があります。</a:t>
            </a:r>
          </a:p>
        </p:txBody>
      </p:sp>
      <p:sp>
        <p:nvSpPr>
          <p:cNvPr id="4" name="スライド番号プレースホルダー 3"/>
          <p:cNvSpPr>
            <a:spLocks noGrp="1"/>
          </p:cNvSpPr>
          <p:nvPr>
            <p:ph type="sldNum" sz="quarter" idx="5"/>
          </p:nvPr>
        </p:nvSpPr>
        <p:spPr/>
        <p:txBody>
          <a:bodyPr/>
          <a:lstStyle/>
          <a:p>
            <a:fld id="{6360DC09-7382-48E6-8AA7-CC2AC4AFF05D}" type="slidenum">
              <a:rPr kumimoji="1" lang="ja-JP" altLang="en-US" smtClean="0"/>
              <a:t>3</a:t>
            </a:fld>
            <a:endParaRPr kumimoji="1" lang="ja-JP" altLang="en-US"/>
          </a:p>
        </p:txBody>
      </p:sp>
    </p:spTree>
    <p:extLst>
      <p:ext uri="{BB962C8B-B14F-4D97-AF65-F5344CB8AC3E}">
        <p14:creationId xmlns:p14="http://schemas.microsoft.com/office/powerpoint/2010/main" val="41863715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そこで私たちは、この課題を解決するために、専門知識がなくても簡単に建物の被害状況を確認できるシステムを考えました。</a:t>
            </a:r>
          </a:p>
        </p:txBody>
      </p:sp>
      <p:sp>
        <p:nvSpPr>
          <p:cNvPr id="4" name="スライド番号プレースホルダー 3"/>
          <p:cNvSpPr>
            <a:spLocks noGrp="1"/>
          </p:cNvSpPr>
          <p:nvPr>
            <p:ph type="sldNum" sz="quarter" idx="5"/>
          </p:nvPr>
        </p:nvSpPr>
        <p:spPr/>
        <p:txBody>
          <a:bodyPr/>
          <a:lstStyle/>
          <a:p>
            <a:fld id="{6360DC09-7382-48E6-8AA7-CC2AC4AFF05D}" type="slidenum">
              <a:rPr kumimoji="1" lang="ja-JP" altLang="en-US" smtClean="0"/>
              <a:t>4</a:t>
            </a:fld>
            <a:endParaRPr kumimoji="1" lang="ja-JP" altLang="en-US"/>
          </a:p>
        </p:txBody>
      </p:sp>
    </p:spTree>
    <p:extLst>
      <p:ext uri="{BB962C8B-B14F-4D97-AF65-F5344CB8AC3E}">
        <p14:creationId xmlns:p14="http://schemas.microsoft.com/office/powerpoint/2010/main" val="39146369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次に、私たちが考えたシステムの概要について説明します</a:t>
            </a:r>
          </a:p>
          <a:p>
            <a:endParaRPr kumimoji="1" lang="en-US" altLang="ja-JP" dirty="0"/>
          </a:p>
          <a:p>
            <a:r>
              <a:rPr kumimoji="1" lang="ja-JP" altLang="en-US" dirty="0"/>
              <a:t>クリック</a:t>
            </a:r>
          </a:p>
          <a:p>
            <a:r>
              <a:rPr kumimoji="1" lang="ja-JP" altLang="en-US" dirty="0"/>
              <a:t>まず、ユーザーが建物の写真を撮影もしくはアップロードし、建物の状態などの情報を入力します。</a:t>
            </a:r>
          </a:p>
          <a:p>
            <a:endParaRPr kumimoji="1" lang="en-US" altLang="ja-JP" dirty="0"/>
          </a:p>
          <a:p>
            <a:r>
              <a:rPr kumimoji="1" lang="ja-JP" altLang="en-US" dirty="0"/>
              <a:t>クリック</a:t>
            </a:r>
          </a:p>
          <a:p>
            <a:r>
              <a:rPr kumimoji="1" lang="ja-JP" altLang="en-US" dirty="0"/>
              <a:t>入力された写真や情報を、</a:t>
            </a:r>
            <a:r>
              <a:rPr kumimoji="1" lang="en-US" altLang="ja-JP" dirty="0"/>
              <a:t>AI</a:t>
            </a:r>
            <a:r>
              <a:rPr kumimoji="1" lang="ja-JP" altLang="en-US" dirty="0"/>
              <a:t>が分析します。</a:t>
            </a:r>
          </a:p>
          <a:p>
            <a:endParaRPr kumimoji="1" lang="en-US" altLang="ja-JP" dirty="0"/>
          </a:p>
          <a:p>
            <a:r>
              <a:rPr kumimoji="1" lang="ja-JP" altLang="en-US" dirty="0"/>
              <a:t>クリック</a:t>
            </a:r>
          </a:p>
          <a:p>
            <a:r>
              <a:rPr kumimoji="1" lang="ja-JP" altLang="en-US" dirty="0"/>
              <a:t>分析した結果として、分析結果や必要な対応を確認できます。</a:t>
            </a:r>
          </a:p>
          <a:p>
            <a:endParaRPr kumimoji="1" lang="en-US" altLang="ja-JP" dirty="0"/>
          </a:p>
          <a:p>
            <a:r>
              <a:rPr kumimoji="1" lang="ja-JP" altLang="en-US" dirty="0"/>
              <a:t>クリック</a:t>
            </a:r>
          </a:p>
          <a:p>
            <a:r>
              <a:rPr kumimoji="1" lang="ja-JP" altLang="en-US" dirty="0"/>
              <a:t>またログインしている場合、過去に行った分析結果も履歴として確認できます。</a:t>
            </a:r>
          </a:p>
          <a:p>
            <a:endParaRPr kumimoji="1" lang="ja-JP" altLang="en-US" dirty="0"/>
          </a:p>
          <a:p>
            <a:r>
              <a:rPr kumimoji="1" lang="ja-JP" altLang="en-US" dirty="0"/>
              <a:t>このように、地震後の建物の状態を確認するために必要な情報を、一つのシステムで確認できるようにしました。</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次は今回作成するシステムの画面イメージを一通り動かします</a:t>
            </a:r>
          </a:p>
          <a:p>
            <a:endParaRPr kumimoji="1" lang="ja-JP" altLang="en-US" dirty="0"/>
          </a:p>
          <a:p>
            <a:endParaRPr kumimoji="1" lang="ja-JP" altLang="en-US" dirty="0"/>
          </a:p>
          <a:p>
            <a:endParaRPr kumimoji="1" lang="ja-JP" altLang="en-US" dirty="0"/>
          </a:p>
        </p:txBody>
      </p:sp>
      <p:sp>
        <p:nvSpPr>
          <p:cNvPr id="4" name="スライド番号プレースホルダー 3"/>
          <p:cNvSpPr>
            <a:spLocks noGrp="1"/>
          </p:cNvSpPr>
          <p:nvPr>
            <p:ph type="sldNum" sz="quarter" idx="5"/>
          </p:nvPr>
        </p:nvSpPr>
        <p:spPr/>
        <p:txBody>
          <a:bodyPr/>
          <a:lstStyle/>
          <a:p>
            <a:fld id="{6360DC09-7382-48E6-8AA7-CC2AC4AFF05D}" type="slidenum">
              <a:rPr kumimoji="1" lang="ja-JP" altLang="en-US" smtClean="0"/>
              <a:t>5</a:t>
            </a:fld>
            <a:endParaRPr kumimoji="1" lang="ja-JP" altLang="en-US"/>
          </a:p>
        </p:txBody>
      </p:sp>
    </p:spTree>
    <p:extLst>
      <p:ext uri="{BB962C8B-B14F-4D97-AF65-F5344CB8AC3E}">
        <p14:creationId xmlns:p14="http://schemas.microsoft.com/office/powerpoint/2010/main" val="17304040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6360DC09-7382-48E6-8AA7-CC2AC4AFF05D}" type="slidenum">
              <a:rPr kumimoji="1" lang="ja-JP" altLang="en-US" smtClean="0"/>
              <a:t>6</a:t>
            </a:fld>
            <a:endParaRPr kumimoji="1" lang="ja-JP" altLang="en-US"/>
          </a:p>
        </p:txBody>
      </p:sp>
    </p:spTree>
    <p:extLst>
      <p:ext uri="{BB962C8B-B14F-4D97-AF65-F5344CB8AC3E}">
        <p14:creationId xmlns:p14="http://schemas.microsoft.com/office/powerpoint/2010/main" val="18880199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最後に、今回のシステムについてまとめます。</a:t>
            </a:r>
          </a:p>
          <a:p>
            <a:endParaRPr kumimoji="1" lang="ja-JP" altLang="en-US" dirty="0"/>
          </a:p>
          <a:p>
            <a:r>
              <a:rPr kumimoji="1" lang="ja-JP" altLang="en-US" dirty="0"/>
              <a:t>このシステムでは、</a:t>
            </a:r>
            <a:r>
              <a:rPr kumimoji="1" lang="en-US" altLang="ja-JP" dirty="0"/>
              <a:t>AI</a:t>
            </a:r>
            <a:r>
              <a:rPr kumimoji="1" lang="ja-JP" altLang="en-US" dirty="0"/>
              <a:t>が建物の写真や入力された情報をもとに、被害状況を分析します。</a:t>
            </a:r>
          </a:p>
          <a:p>
            <a:endParaRPr kumimoji="1" lang="ja-JP" altLang="en-US" dirty="0"/>
          </a:p>
          <a:p>
            <a:r>
              <a:rPr kumimoji="1" lang="ja-JP" altLang="en-US" dirty="0"/>
              <a:t>また、分析結果から、必要な対応や自治体への相談を検討するための情報を確認できます。</a:t>
            </a:r>
          </a:p>
          <a:p>
            <a:endParaRPr kumimoji="1" lang="en-US" altLang="ja-JP" dirty="0"/>
          </a:p>
          <a:p>
            <a:r>
              <a:rPr kumimoji="1" lang="ja-JP" altLang="en-US" dirty="0"/>
              <a:t>クリック</a:t>
            </a:r>
          </a:p>
          <a:p>
            <a:r>
              <a:rPr kumimoji="1" lang="ja-JP" altLang="en-US" dirty="0"/>
              <a:t>ただし、留意事項が</a:t>
            </a:r>
            <a:r>
              <a:rPr kumimoji="1" lang="en-US" altLang="ja-JP" dirty="0"/>
              <a:t>2</a:t>
            </a:r>
            <a:r>
              <a:rPr kumimoji="1" lang="ja-JP" altLang="en-US" dirty="0"/>
              <a:t>つあります。</a:t>
            </a:r>
          </a:p>
          <a:p>
            <a:endParaRPr kumimoji="1" lang="ja-JP" altLang="en-US" dirty="0"/>
          </a:p>
          <a:p>
            <a:r>
              <a:rPr kumimoji="1" lang="en-US" altLang="ja-JP" dirty="0"/>
              <a:t>1</a:t>
            </a:r>
            <a:r>
              <a:rPr kumimoji="1" lang="ja-JP" altLang="en-US" dirty="0"/>
              <a:t>つ目は、</a:t>
            </a:r>
            <a:r>
              <a:rPr kumimoji="1" lang="en-US" altLang="ja-JP" dirty="0"/>
              <a:t>AI</a:t>
            </a:r>
            <a:r>
              <a:rPr kumimoji="1" lang="ja-JP" altLang="en-US" dirty="0"/>
              <a:t>による分析結果が、建物の安全性を保証するものではないということです。そのため、必要に応じて専門家に相談することが重要です。</a:t>
            </a:r>
          </a:p>
          <a:p>
            <a:endParaRPr kumimoji="1" lang="ja-JP" altLang="en-US" dirty="0"/>
          </a:p>
          <a:p>
            <a:r>
              <a:rPr kumimoji="1" lang="en-US" altLang="ja-JP" dirty="0"/>
              <a:t>2</a:t>
            </a:r>
            <a:r>
              <a:rPr kumimoji="1" lang="ja-JP" altLang="en-US" dirty="0"/>
              <a:t>つ目は、今回のシステムの対象が、戸建て住宅と集合住宅に限られているということです。</a:t>
            </a:r>
          </a:p>
          <a:p>
            <a:endParaRPr kumimoji="1" lang="ja-JP" altLang="en-US" dirty="0"/>
          </a:p>
          <a:p>
            <a:r>
              <a:rPr kumimoji="1" lang="ja-JP" altLang="en-US" dirty="0"/>
              <a:t>私たちは、このシステムを通して、地震後の建物の状態を確認する際の不安や判断の難しさを減らし、専門家へ相談する際の判断材料を提供することを目指しています。</a:t>
            </a:r>
          </a:p>
          <a:p>
            <a:endParaRPr kumimoji="1" lang="ja-JP" altLang="en-US" dirty="0"/>
          </a:p>
          <a:p>
            <a:endParaRPr kumimoji="1" lang="ja-JP" altLang="en-US" dirty="0"/>
          </a:p>
        </p:txBody>
      </p:sp>
      <p:sp>
        <p:nvSpPr>
          <p:cNvPr id="4" name="スライド番号プレースホルダー 3"/>
          <p:cNvSpPr>
            <a:spLocks noGrp="1"/>
          </p:cNvSpPr>
          <p:nvPr>
            <p:ph type="sldNum" sz="quarter" idx="5"/>
          </p:nvPr>
        </p:nvSpPr>
        <p:spPr/>
        <p:txBody>
          <a:bodyPr/>
          <a:lstStyle/>
          <a:p>
            <a:fld id="{6360DC09-7382-48E6-8AA7-CC2AC4AFF05D}" type="slidenum">
              <a:rPr kumimoji="1" lang="ja-JP" altLang="en-US" smtClean="0"/>
              <a:t>7</a:t>
            </a:fld>
            <a:endParaRPr kumimoji="1" lang="ja-JP" altLang="en-US"/>
          </a:p>
        </p:txBody>
      </p:sp>
    </p:spTree>
    <p:extLst>
      <p:ext uri="{BB962C8B-B14F-4D97-AF65-F5344CB8AC3E}">
        <p14:creationId xmlns:p14="http://schemas.microsoft.com/office/powerpoint/2010/main" val="28505766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5048250"/>
            <a:ext cx="5238750" cy="5238750"/>
          </a:xfrm>
          <a:custGeom>
            <a:avLst/>
            <a:gdLst/>
            <a:ahLst/>
            <a:cxnLst/>
            <a:rect l="l" t="t" r="r" b="b"/>
            <a:pathLst>
              <a:path w="5238750" h="5238750">
                <a:moveTo>
                  <a:pt x="0" y="0"/>
                </a:moveTo>
                <a:lnTo>
                  <a:pt x="5238750" y="0"/>
                </a:lnTo>
                <a:lnTo>
                  <a:pt x="5238750" y="5238750"/>
                </a:lnTo>
                <a:lnTo>
                  <a:pt x="0" y="523875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p>
        </p:txBody>
      </p:sp>
      <p:sp>
        <p:nvSpPr>
          <p:cNvPr id="3" name="Freeform 3"/>
          <p:cNvSpPr/>
          <p:nvPr/>
        </p:nvSpPr>
        <p:spPr>
          <a:xfrm rot="-10800000">
            <a:off x="13049250" y="0"/>
            <a:ext cx="5238750" cy="4724400"/>
          </a:xfrm>
          <a:custGeom>
            <a:avLst/>
            <a:gdLst/>
            <a:ahLst/>
            <a:cxnLst/>
            <a:rect l="l" t="t" r="r" b="b"/>
            <a:pathLst>
              <a:path w="5238750" h="4724400">
                <a:moveTo>
                  <a:pt x="0" y="0"/>
                </a:moveTo>
                <a:lnTo>
                  <a:pt x="5238750" y="0"/>
                </a:lnTo>
                <a:lnTo>
                  <a:pt x="5238750" y="4724400"/>
                </a:lnTo>
                <a:lnTo>
                  <a:pt x="0" y="47244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p>
        </p:txBody>
      </p:sp>
      <p:sp>
        <p:nvSpPr>
          <p:cNvPr id="4" name="TextBox 4"/>
          <p:cNvSpPr txBox="1"/>
          <p:nvPr/>
        </p:nvSpPr>
        <p:spPr>
          <a:xfrm>
            <a:off x="3930309" y="2923223"/>
            <a:ext cx="10427382" cy="3602353"/>
          </a:xfrm>
          <a:prstGeom prst="rect">
            <a:avLst/>
          </a:prstGeom>
        </p:spPr>
        <p:txBody>
          <a:bodyPr lIns="0" tIns="0" rIns="0" bIns="0" rtlCol="0" anchor="t">
            <a:spAutoFit/>
          </a:bodyPr>
          <a:lstStyle/>
          <a:p>
            <a:pPr algn="ctr">
              <a:lnSpc>
                <a:spcPts val="10694"/>
              </a:lnSpc>
            </a:pPr>
            <a:r>
              <a:rPr lang="en-US" sz="9299" b="1" spc="1394">
                <a:solidFill>
                  <a:srgbClr val="262262"/>
                </a:solidFill>
                <a:latin typeface="モトヤゴシック w Semi-Bold"/>
                <a:ea typeface="モトヤゴシック w Semi-Bold"/>
                <a:cs typeface="モトヤゴシック w Semi-Bold"/>
                <a:sym typeface="モトヤゴシック w Semi-Bold"/>
              </a:rPr>
              <a:t>地震被害度</a:t>
            </a:r>
          </a:p>
          <a:p>
            <a:pPr algn="ctr">
              <a:lnSpc>
                <a:spcPts val="10694"/>
              </a:lnSpc>
            </a:pPr>
            <a:r>
              <a:rPr lang="en-US" sz="9299" spc="1394">
                <a:solidFill>
                  <a:srgbClr val="262262"/>
                </a:solidFill>
                <a:latin typeface="モトヤゴシック w"/>
                <a:ea typeface="モトヤゴシック w"/>
                <a:cs typeface="モトヤゴシック w"/>
                <a:sym typeface="モトヤゴシック w"/>
              </a:rPr>
              <a:t>測定システム</a:t>
            </a:r>
          </a:p>
        </p:txBody>
      </p:sp>
      <p:grpSp>
        <p:nvGrpSpPr>
          <p:cNvPr id="5" name="Group 5"/>
          <p:cNvGrpSpPr/>
          <p:nvPr/>
        </p:nvGrpSpPr>
        <p:grpSpPr>
          <a:xfrm>
            <a:off x="6989425" y="8572179"/>
            <a:ext cx="4309149" cy="1372241"/>
            <a:chOff x="0" y="0"/>
            <a:chExt cx="5745532" cy="1829655"/>
          </a:xfrm>
        </p:grpSpPr>
        <p:sp>
          <p:nvSpPr>
            <p:cNvPr id="6" name="TextBox 6"/>
            <p:cNvSpPr txBox="1"/>
            <p:nvPr/>
          </p:nvSpPr>
          <p:spPr>
            <a:xfrm>
              <a:off x="3272820" y="-285750"/>
              <a:ext cx="2472713" cy="786338"/>
            </a:xfrm>
            <a:prstGeom prst="rect">
              <a:avLst/>
            </a:prstGeom>
          </p:spPr>
          <p:txBody>
            <a:bodyPr lIns="0" tIns="0" rIns="0" bIns="0" rtlCol="0" anchor="t">
              <a:spAutoFit/>
            </a:bodyPr>
            <a:lstStyle/>
            <a:p>
              <a:pPr algn="ctr">
                <a:lnSpc>
                  <a:spcPts val="3456"/>
                </a:lnSpc>
                <a:spcBef>
                  <a:spcPct val="0"/>
                </a:spcBef>
              </a:pPr>
              <a:r>
                <a:rPr lang="en-US" sz="2468" b="1" i="1">
                  <a:solidFill>
                    <a:srgbClr val="262262"/>
                  </a:solidFill>
                  <a:latin typeface="モトヤゴシック w Bold"/>
                  <a:ea typeface="モトヤゴシック w Bold"/>
                  <a:cs typeface="モトヤゴシック w Bold"/>
                  <a:sym typeface="モトヤゴシック w Bold"/>
                </a:rPr>
                <a:t>坂上　翔真 </a:t>
              </a:r>
            </a:p>
          </p:txBody>
        </p:sp>
        <p:sp>
          <p:nvSpPr>
            <p:cNvPr id="7" name="TextBox 7"/>
            <p:cNvSpPr txBox="1"/>
            <p:nvPr/>
          </p:nvSpPr>
          <p:spPr>
            <a:xfrm>
              <a:off x="0" y="343172"/>
              <a:ext cx="2939904" cy="786338"/>
            </a:xfrm>
            <a:prstGeom prst="rect">
              <a:avLst/>
            </a:prstGeom>
          </p:spPr>
          <p:txBody>
            <a:bodyPr lIns="0" tIns="0" rIns="0" bIns="0" rtlCol="0" anchor="t">
              <a:spAutoFit/>
            </a:bodyPr>
            <a:lstStyle/>
            <a:p>
              <a:pPr algn="ctr">
                <a:lnSpc>
                  <a:spcPts val="3456"/>
                </a:lnSpc>
                <a:spcBef>
                  <a:spcPct val="0"/>
                </a:spcBef>
              </a:pPr>
              <a:r>
                <a:rPr lang="en-US" sz="2468" b="1" i="1">
                  <a:solidFill>
                    <a:srgbClr val="262262"/>
                  </a:solidFill>
                  <a:latin typeface="モトヤゴシック w Bold"/>
                  <a:ea typeface="モトヤゴシック w Bold"/>
                  <a:cs typeface="モトヤゴシック w Bold"/>
                  <a:sym typeface="モトヤゴシック w Bold"/>
                </a:rPr>
                <a:t>岩本　武飛冴 </a:t>
              </a:r>
            </a:p>
          </p:txBody>
        </p:sp>
        <p:sp>
          <p:nvSpPr>
            <p:cNvPr id="8" name="TextBox 8"/>
            <p:cNvSpPr txBox="1"/>
            <p:nvPr/>
          </p:nvSpPr>
          <p:spPr>
            <a:xfrm>
              <a:off x="0" y="1043317"/>
              <a:ext cx="2335808" cy="786338"/>
            </a:xfrm>
            <a:prstGeom prst="rect">
              <a:avLst/>
            </a:prstGeom>
          </p:spPr>
          <p:txBody>
            <a:bodyPr lIns="0" tIns="0" rIns="0" bIns="0" rtlCol="0" anchor="t">
              <a:spAutoFit/>
            </a:bodyPr>
            <a:lstStyle/>
            <a:p>
              <a:pPr algn="ctr">
                <a:lnSpc>
                  <a:spcPts val="3456"/>
                </a:lnSpc>
                <a:spcBef>
                  <a:spcPct val="0"/>
                </a:spcBef>
              </a:pPr>
              <a:r>
                <a:rPr lang="en-US" sz="2468" b="1" i="1">
                  <a:solidFill>
                    <a:srgbClr val="262262"/>
                  </a:solidFill>
                  <a:latin typeface="モトヤゴシック w Bold"/>
                  <a:ea typeface="モトヤゴシック w Bold"/>
                  <a:cs typeface="モトヤゴシック w Bold"/>
                  <a:sym typeface="モトヤゴシック w Bold"/>
                </a:rPr>
                <a:t>塚本　康太</a:t>
              </a:r>
            </a:p>
          </p:txBody>
        </p:sp>
        <p:sp>
          <p:nvSpPr>
            <p:cNvPr id="9" name="TextBox 9"/>
            <p:cNvSpPr txBox="1"/>
            <p:nvPr/>
          </p:nvSpPr>
          <p:spPr>
            <a:xfrm>
              <a:off x="3409724" y="1043317"/>
              <a:ext cx="2335808" cy="786338"/>
            </a:xfrm>
            <a:prstGeom prst="rect">
              <a:avLst/>
            </a:prstGeom>
          </p:spPr>
          <p:txBody>
            <a:bodyPr lIns="0" tIns="0" rIns="0" bIns="0" rtlCol="0" anchor="t">
              <a:spAutoFit/>
            </a:bodyPr>
            <a:lstStyle/>
            <a:p>
              <a:pPr algn="ctr">
                <a:lnSpc>
                  <a:spcPts val="3456"/>
                </a:lnSpc>
                <a:spcBef>
                  <a:spcPct val="0"/>
                </a:spcBef>
              </a:pPr>
              <a:r>
                <a:rPr lang="en-US" sz="2468" b="1" i="1">
                  <a:solidFill>
                    <a:srgbClr val="262262"/>
                  </a:solidFill>
                  <a:latin typeface="モトヤゴシック w Bold"/>
                  <a:ea typeface="モトヤゴシック w Bold"/>
                  <a:cs typeface="モトヤゴシック w Bold"/>
                  <a:sym typeface="モトヤゴシック w Bold"/>
                </a:rPr>
                <a:t>松田　駈琉</a:t>
              </a:r>
            </a:p>
          </p:txBody>
        </p:sp>
        <p:sp>
          <p:nvSpPr>
            <p:cNvPr id="10" name="TextBox 10"/>
            <p:cNvSpPr txBox="1"/>
            <p:nvPr/>
          </p:nvSpPr>
          <p:spPr>
            <a:xfrm>
              <a:off x="0" y="-285750"/>
              <a:ext cx="2939904" cy="786338"/>
            </a:xfrm>
            <a:prstGeom prst="rect">
              <a:avLst/>
            </a:prstGeom>
          </p:spPr>
          <p:txBody>
            <a:bodyPr lIns="0" tIns="0" rIns="0" bIns="0" rtlCol="0" anchor="t">
              <a:spAutoFit/>
            </a:bodyPr>
            <a:lstStyle/>
            <a:p>
              <a:pPr algn="ctr">
                <a:lnSpc>
                  <a:spcPts val="3456"/>
                </a:lnSpc>
                <a:spcBef>
                  <a:spcPct val="0"/>
                </a:spcBef>
              </a:pPr>
              <a:r>
                <a:rPr lang="en-US" sz="2468" b="1" i="1">
                  <a:solidFill>
                    <a:srgbClr val="262262"/>
                  </a:solidFill>
                  <a:latin typeface="モトヤゴシック w Bold"/>
                  <a:ea typeface="モトヤゴシック w Bold"/>
                  <a:cs typeface="モトヤゴシック w Bold"/>
                  <a:sym typeface="モトヤゴシック w Bold"/>
                </a:rPr>
                <a:t>田上　虎太郎 </a:t>
              </a:r>
            </a:p>
          </p:txBody>
        </p:sp>
        <p:sp>
          <p:nvSpPr>
            <p:cNvPr id="11" name="TextBox 11"/>
            <p:cNvSpPr txBox="1"/>
            <p:nvPr/>
          </p:nvSpPr>
          <p:spPr>
            <a:xfrm>
              <a:off x="3341272" y="343172"/>
              <a:ext cx="2335808" cy="786338"/>
            </a:xfrm>
            <a:prstGeom prst="rect">
              <a:avLst/>
            </a:prstGeom>
          </p:spPr>
          <p:txBody>
            <a:bodyPr lIns="0" tIns="0" rIns="0" bIns="0" rtlCol="0" anchor="t">
              <a:spAutoFit/>
            </a:bodyPr>
            <a:lstStyle/>
            <a:p>
              <a:pPr algn="ctr">
                <a:lnSpc>
                  <a:spcPts val="3456"/>
                </a:lnSpc>
                <a:spcBef>
                  <a:spcPct val="0"/>
                </a:spcBef>
              </a:pPr>
              <a:r>
                <a:rPr lang="en-US" sz="2468" b="1" i="1">
                  <a:solidFill>
                    <a:srgbClr val="262262"/>
                  </a:solidFill>
                  <a:latin typeface="モトヤゴシック w Bold"/>
                  <a:ea typeface="モトヤゴシック w Bold"/>
                  <a:cs typeface="モトヤゴシック w Bold"/>
                  <a:sym typeface="モトヤゴシック w Bold"/>
                </a:rPr>
                <a:t>齋藤　誠斗</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619250"/>
            <a:chOff x="0" y="0"/>
            <a:chExt cx="4816593" cy="426469"/>
          </a:xfrm>
        </p:grpSpPr>
        <p:sp>
          <p:nvSpPr>
            <p:cNvPr id="3" name="Freeform 3"/>
            <p:cNvSpPr/>
            <p:nvPr/>
          </p:nvSpPr>
          <p:spPr>
            <a:xfrm>
              <a:off x="0" y="0"/>
              <a:ext cx="4816592" cy="426469"/>
            </a:xfrm>
            <a:custGeom>
              <a:avLst/>
              <a:gdLst/>
              <a:ahLst/>
              <a:cxnLst/>
              <a:rect l="l" t="t" r="r" b="b"/>
              <a:pathLst>
                <a:path w="4816592" h="426469">
                  <a:moveTo>
                    <a:pt x="0" y="0"/>
                  </a:moveTo>
                  <a:lnTo>
                    <a:pt x="4816592" y="0"/>
                  </a:lnTo>
                  <a:lnTo>
                    <a:pt x="4816592" y="426469"/>
                  </a:lnTo>
                  <a:lnTo>
                    <a:pt x="0" y="426469"/>
                  </a:lnTo>
                  <a:close/>
                </a:path>
              </a:pathLst>
            </a:custGeom>
            <a:solidFill>
              <a:srgbClr val="262262"/>
            </a:solidFill>
          </p:spPr>
          <p:txBody>
            <a:bodyPr/>
            <a:lstStyle/>
            <a:p>
              <a:endParaRPr lang="ja-JP" altLang="en-US"/>
            </a:p>
          </p:txBody>
        </p:sp>
        <p:sp>
          <p:nvSpPr>
            <p:cNvPr id="4" name="TextBox 4"/>
            <p:cNvSpPr txBox="1"/>
            <p:nvPr/>
          </p:nvSpPr>
          <p:spPr>
            <a:xfrm>
              <a:off x="0" y="-285750"/>
              <a:ext cx="4816593" cy="712219"/>
            </a:xfrm>
            <a:prstGeom prst="rect">
              <a:avLst/>
            </a:prstGeom>
          </p:spPr>
          <p:txBody>
            <a:bodyPr lIns="50800" tIns="50800" rIns="50800" bIns="50800" rtlCol="0" anchor="ctr"/>
            <a:lstStyle/>
            <a:p>
              <a:pPr algn="ctr">
                <a:lnSpc>
                  <a:spcPts val="3456"/>
                </a:lnSpc>
              </a:pPr>
              <a:endParaRPr/>
            </a:p>
          </p:txBody>
        </p:sp>
      </p:grpSp>
      <p:grpSp>
        <p:nvGrpSpPr>
          <p:cNvPr id="5" name="Group 5"/>
          <p:cNvGrpSpPr/>
          <p:nvPr/>
        </p:nvGrpSpPr>
        <p:grpSpPr>
          <a:xfrm>
            <a:off x="-769371" y="0"/>
            <a:ext cx="3167383" cy="1619250"/>
            <a:chOff x="0" y="0"/>
            <a:chExt cx="979343" cy="500666"/>
          </a:xfrm>
        </p:grpSpPr>
        <p:sp>
          <p:nvSpPr>
            <p:cNvPr id="6" name="Freeform 6"/>
            <p:cNvSpPr/>
            <p:nvPr/>
          </p:nvSpPr>
          <p:spPr>
            <a:xfrm>
              <a:off x="0" y="0"/>
              <a:ext cx="979343" cy="500666"/>
            </a:xfrm>
            <a:custGeom>
              <a:avLst/>
              <a:gdLst/>
              <a:ahLst/>
              <a:cxnLst/>
              <a:rect l="l" t="t" r="r" b="b"/>
              <a:pathLst>
                <a:path w="979343" h="500666">
                  <a:moveTo>
                    <a:pt x="203200" y="0"/>
                  </a:moveTo>
                  <a:lnTo>
                    <a:pt x="979343" y="0"/>
                  </a:lnTo>
                  <a:lnTo>
                    <a:pt x="776143" y="500666"/>
                  </a:lnTo>
                  <a:lnTo>
                    <a:pt x="0" y="500666"/>
                  </a:lnTo>
                  <a:lnTo>
                    <a:pt x="203200" y="0"/>
                  </a:lnTo>
                  <a:close/>
                </a:path>
              </a:pathLst>
            </a:custGeom>
            <a:solidFill>
              <a:srgbClr val="1B75BC"/>
            </a:solidFill>
          </p:spPr>
          <p:txBody>
            <a:bodyPr/>
            <a:lstStyle/>
            <a:p>
              <a:endParaRPr lang="ja-JP" altLang="en-US"/>
            </a:p>
          </p:txBody>
        </p:sp>
        <p:sp>
          <p:nvSpPr>
            <p:cNvPr id="7" name="TextBox 7"/>
            <p:cNvSpPr txBox="1"/>
            <p:nvPr/>
          </p:nvSpPr>
          <p:spPr>
            <a:xfrm>
              <a:off x="101600" y="-285750"/>
              <a:ext cx="776143" cy="786416"/>
            </a:xfrm>
            <a:prstGeom prst="rect">
              <a:avLst/>
            </a:prstGeom>
          </p:spPr>
          <p:txBody>
            <a:bodyPr lIns="50800" tIns="50800" rIns="50800" bIns="50800" rtlCol="0" anchor="ctr"/>
            <a:lstStyle/>
            <a:p>
              <a:pPr algn="ctr">
                <a:lnSpc>
                  <a:spcPts val="3456"/>
                </a:lnSpc>
              </a:pPr>
              <a:endParaRPr/>
            </a:p>
          </p:txBody>
        </p:sp>
      </p:grpSp>
      <p:grpSp>
        <p:nvGrpSpPr>
          <p:cNvPr id="8" name="Group 8"/>
          <p:cNvGrpSpPr/>
          <p:nvPr/>
        </p:nvGrpSpPr>
        <p:grpSpPr>
          <a:xfrm>
            <a:off x="857643" y="2199731"/>
            <a:ext cx="4919748" cy="7314969"/>
            <a:chOff x="0" y="-466725"/>
            <a:chExt cx="6559664" cy="9753291"/>
          </a:xfrm>
        </p:grpSpPr>
        <p:sp>
          <p:nvSpPr>
            <p:cNvPr id="9" name="Freeform 9"/>
            <p:cNvSpPr/>
            <p:nvPr/>
          </p:nvSpPr>
          <p:spPr>
            <a:xfrm>
              <a:off x="0" y="2156497"/>
              <a:ext cx="6559664" cy="7130069"/>
            </a:xfrm>
            <a:custGeom>
              <a:avLst/>
              <a:gdLst/>
              <a:ahLst/>
              <a:cxnLst/>
              <a:rect l="l" t="t" r="r" b="b"/>
              <a:pathLst>
                <a:path w="6559664" h="7130069">
                  <a:moveTo>
                    <a:pt x="0" y="0"/>
                  </a:moveTo>
                  <a:lnTo>
                    <a:pt x="6559664" y="0"/>
                  </a:lnTo>
                  <a:lnTo>
                    <a:pt x="6559664" y="7130069"/>
                  </a:lnTo>
                  <a:lnTo>
                    <a:pt x="0" y="7130069"/>
                  </a:lnTo>
                  <a:lnTo>
                    <a:pt x="0" y="0"/>
                  </a:lnTo>
                  <a:close/>
                </a:path>
              </a:pathLst>
            </a:custGeom>
            <a:blipFill>
              <a:blip r:embed="rId3"/>
              <a:stretch>
                <a:fillRect/>
              </a:stretch>
            </a:blipFill>
          </p:spPr>
          <p:txBody>
            <a:bodyPr/>
            <a:lstStyle/>
            <a:p>
              <a:endParaRPr lang="ja-JP" altLang="en-US"/>
            </a:p>
          </p:txBody>
        </p:sp>
        <p:sp>
          <p:nvSpPr>
            <p:cNvPr id="10" name="TextBox 10"/>
            <p:cNvSpPr txBox="1"/>
            <p:nvPr/>
          </p:nvSpPr>
          <p:spPr>
            <a:xfrm>
              <a:off x="482076" y="-466725"/>
              <a:ext cx="5182087" cy="839888"/>
            </a:xfrm>
            <a:prstGeom prst="rect">
              <a:avLst/>
            </a:prstGeom>
          </p:spPr>
          <p:txBody>
            <a:bodyPr wrap="square" lIns="0" tIns="0" rIns="0" bIns="0" rtlCol="0" anchor="t">
              <a:spAutoFit/>
            </a:bodyPr>
            <a:lstStyle/>
            <a:p>
              <a:pPr algn="ctr">
                <a:lnSpc>
                  <a:spcPts val="5633"/>
                </a:lnSpc>
                <a:spcBef>
                  <a:spcPct val="0"/>
                </a:spcBef>
              </a:pPr>
              <a:r>
                <a:rPr lang="en-US" sz="4023" b="1" dirty="0" err="1">
                  <a:solidFill>
                    <a:srgbClr val="262262"/>
                  </a:solidFill>
                  <a:latin typeface="モトヤゴシック w Bold"/>
                  <a:ea typeface="モトヤゴシック w Bold"/>
                  <a:cs typeface="モトヤゴシック w Bold"/>
                  <a:sym typeface="モトヤゴシック w Bold"/>
                </a:rPr>
                <a:t>地震発生</a:t>
              </a:r>
              <a:r>
                <a:rPr lang="en-US" sz="4023" b="1" dirty="0">
                  <a:solidFill>
                    <a:srgbClr val="262262"/>
                  </a:solidFill>
                  <a:latin typeface="モトヤゴシック w Bold"/>
                  <a:ea typeface="モトヤゴシック w Bold"/>
                  <a:cs typeface="モトヤゴシック w Bold"/>
                  <a:sym typeface="モトヤゴシック w Bold"/>
                </a:rPr>
                <a:t>！！！</a:t>
              </a:r>
            </a:p>
          </p:txBody>
        </p:sp>
      </p:grpSp>
      <p:grpSp>
        <p:nvGrpSpPr>
          <p:cNvPr id="11" name="Group 11"/>
          <p:cNvGrpSpPr/>
          <p:nvPr/>
        </p:nvGrpSpPr>
        <p:grpSpPr>
          <a:xfrm>
            <a:off x="6743945" y="3925745"/>
            <a:ext cx="4800110" cy="5562892"/>
            <a:chOff x="0" y="0"/>
            <a:chExt cx="6400147" cy="7417190"/>
          </a:xfrm>
        </p:grpSpPr>
        <p:sp>
          <p:nvSpPr>
            <p:cNvPr id="12" name="Freeform 12"/>
            <p:cNvSpPr/>
            <p:nvPr/>
          </p:nvSpPr>
          <p:spPr>
            <a:xfrm>
              <a:off x="0" y="0"/>
              <a:ext cx="6400147" cy="5542027"/>
            </a:xfrm>
            <a:custGeom>
              <a:avLst/>
              <a:gdLst/>
              <a:ahLst/>
              <a:cxnLst/>
              <a:rect l="l" t="t" r="r" b="b"/>
              <a:pathLst>
                <a:path w="6400147" h="5542027">
                  <a:moveTo>
                    <a:pt x="0" y="0"/>
                  </a:moveTo>
                  <a:lnTo>
                    <a:pt x="6400147" y="0"/>
                  </a:lnTo>
                  <a:lnTo>
                    <a:pt x="6400147" y="5542027"/>
                  </a:lnTo>
                  <a:lnTo>
                    <a:pt x="0" y="5542027"/>
                  </a:lnTo>
                  <a:lnTo>
                    <a:pt x="0" y="0"/>
                  </a:lnTo>
                  <a:close/>
                </a:path>
              </a:pathLst>
            </a:custGeom>
            <a:blipFill>
              <a:blip r:embed="rId4"/>
              <a:stretch>
                <a:fillRect/>
              </a:stretch>
            </a:blipFill>
          </p:spPr>
          <p:txBody>
            <a:bodyPr/>
            <a:lstStyle/>
            <a:p>
              <a:endParaRPr lang="ja-JP" altLang="en-US"/>
            </a:p>
          </p:txBody>
        </p:sp>
        <p:sp>
          <p:nvSpPr>
            <p:cNvPr id="13" name="TextBox 13"/>
            <p:cNvSpPr txBox="1"/>
            <p:nvPr/>
          </p:nvSpPr>
          <p:spPr>
            <a:xfrm>
              <a:off x="1269675" y="6577302"/>
              <a:ext cx="4091547" cy="839888"/>
            </a:xfrm>
            <a:prstGeom prst="rect">
              <a:avLst/>
            </a:prstGeom>
          </p:spPr>
          <p:txBody>
            <a:bodyPr wrap="square" lIns="0" tIns="0" rIns="0" bIns="0" rtlCol="0" anchor="t">
              <a:spAutoFit/>
            </a:bodyPr>
            <a:lstStyle/>
            <a:p>
              <a:pPr algn="ctr">
                <a:lnSpc>
                  <a:spcPts val="5633"/>
                </a:lnSpc>
                <a:spcBef>
                  <a:spcPct val="0"/>
                </a:spcBef>
              </a:pPr>
              <a:r>
                <a:rPr lang="en-US" sz="4023" b="1" dirty="0" err="1">
                  <a:solidFill>
                    <a:srgbClr val="262262"/>
                  </a:solidFill>
                  <a:latin typeface="モトヤゴシック w Bold"/>
                  <a:ea typeface="モトヤゴシック w Bold"/>
                  <a:cs typeface="モトヤゴシック w Bold"/>
                  <a:sym typeface="モトヤゴシック w Bold"/>
                </a:rPr>
                <a:t>家にひびが</a:t>
              </a:r>
              <a:r>
                <a:rPr lang="en-US" sz="4023" b="1" dirty="0">
                  <a:solidFill>
                    <a:srgbClr val="262262"/>
                  </a:solidFill>
                  <a:latin typeface="モトヤゴシック w Bold"/>
                  <a:ea typeface="モトヤゴシック w Bold"/>
                  <a:cs typeface="モトヤゴシック w Bold"/>
                  <a:sym typeface="モトヤゴシック w Bold"/>
                </a:rPr>
                <a:t>！</a:t>
              </a:r>
            </a:p>
          </p:txBody>
        </p:sp>
      </p:grpSp>
      <p:sp>
        <p:nvSpPr>
          <p:cNvPr id="14" name="Freeform 14"/>
          <p:cNvSpPr/>
          <p:nvPr/>
        </p:nvSpPr>
        <p:spPr>
          <a:xfrm>
            <a:off x="12956228" y="3829450"/>
            <a:ext cx="3827339" cy="5428850"/>
          </a:xfrm>
          <a:custGeom>
            <a:avLst/>
            <a:gdLst/>
            <a:ahLst/>
            <a:cxnLst/>
            <a:rect l="l" t="t" r="r" b="b"/>
            <a:pathLst>
              <a:path w="3827339" h="5428850">
                <a:moveTo>
                  <a:pt x="0" y="0"/>
                </a:moveTo>
                <a:lnTo>
                  <a:pt x="3827339" y="0"/>
                </a:lnTo>
                <a:lnTo>
                  <a:pt x="3827339" y="5428850"/>
                </a:lnTo>
                <a:lnTo>
                  <a:pt x="0" y="5428850"/>
                </a:lnTo>
                <a:lnTo>
                  <a:pt x="0" y="0"/>
                </a:lnTo>
                <a:close/>
              </a:path>
            </a:pathLst>
          </a:custGeom>
          <a:blipFill>
            <a:blip r:embed="rId5"/>
            <a:stretch>
              <a:fillRect/>
            </a:stretch>
          </a:blipFill>
        </p:spPr>
        <p:txBody>
          <a:bodyPr/>
          <a:lstStyle/>
          <a:p>
            <a:endParaRPr lang="ja-JP" altLang="en-US"/>
          </a:p>
        </p:txBody>
      </p:sp>
      <p:sp>
        <p:nvSpPr>
          <p:cNvPr id="15" name="TextBox 15"/>
          <p:cNvSpPr txBox="1"/>
          <p:nvPr/>
        </p:nvSpPr>
        <p:spPr>
          <a:xfrm>
            <a:off x="3057774" y="393825"/>
            <a:ext cx="7285230" cy="1457325"/>
          </a:xfrm>
          <a:prstGeom prst="rect">
            <a:avLst/>
          </a:prstGeom>
        </p:spPr>
        <p:txBody>
          <a:bodyPr lIns="0" tIns="0" rIns="0" bIns="0" rtlCol="0" anchor="t">
            <a:spAutoFit/>
          </a:bodyPr>
          <a:lstStyle/>
          <a:p>
            <a:pPr algn="l">
              <a:lnSpc>
                <a:spcPts val="6900"/>
              </a:lnSpc>
            </a:pPr>
            <a:r>
              <a:rPr lang="en-US" sz="6000" b="1" spc="600" dirty="0" err="1">
                <a:solidFill>
                  <a:srgbClr val="FFFFFF"/>
                </a:solidFill>
                <a:latin typeface="モトヤゴシック w Semi-Bold"/>
                <a:ea typeface="モトヤゴシック w Semi-Bold"/>
                <a:cs typeface="モトヤゴシック w Semi-Bold"/>
                <a:sym typeface="モトヤゴシック w Semi-Bold"/>
              </a:rPr>
              <a:t>背景と課題</a:t>
            </a:r>
            <a:endParaRPr lang="en-US" sz="6000" b="1" spc="600" dirty="0">
              <a:solidFill>
                <a:srgbClr val="FFFFFF"/>
              </a:solidFill>
              <a:latin typeface="モトヤゴシック w Semi-Bold"/>
              <a:ea typeface="モトヤゴシック w Semi-Bold"/>
              <a:cs typeface="モトヤゴシック w Semi-Bold"/>
              <a:sym typeface="モトヤゴシック w Semi-Bold"/>
            </a:endParaRPr>
          </a:p>
        </p:txBody>
      </p:sp>
      <p:sp>
        <p:nvSpPr>
          <p:cNvPr id="16" name="TextBox 16"/>
          <p:cNvSpPr txBox="1"/>
          <p:nvPr/>
        </p:nvSpPr>
        <p:spPr>
          <a:xfrm>
            <a:off x="-68726" y="322712"/>
            <a:ext cx="2138144" cy="1457325"/>
          </a:xfrm>
          <a:prstGeom prst="rect">
            <a:avLst/>
          </a:prstGeom>
        </p:spPr>
        <p:txBody>
          <a:bodyPr lIns="0" tIns="0" rIns="0" bIns="0" rtlCol="0" anchor="t">
            <a:spAutoFit/>
          </a:bodyPr>
          <a:lstStyle/>
          <a:p>
            <a:pPr algn="ctr">
              <a:lnSpc>
                <a:spcPts val="6900"/>
              </a:lnSpc>
            </a:pPr>
            <a:r>
              <a:rPr lang="en-US" sz="6000" b="1" spc="600" dirty="0">
                <a:solidFill>
                  <a:srgbClr val="FFFFFF"/>
                </a:solidFill>
                <a:latin typeface="モトヤゴシック w Semi-Bold"/>
                <a:ea typeface="モトヤゴシック w Semi-Bold"/>
                <a:cs typeface="モトヤゴシック w Semi-Bold"/>
                <a:sym typeface="モトヤゴシック w Semi-Bold"/>
              </a:rPr>
              <a:t>01</a:t>
            </a:r>
          </a:p>
        </p:txBody>
      </p:sp>
      <p:sp>
        <p:nvSpPr>
          <p:cNvPr id="17" name="TextBox 17"/>
          <p:cNvSpPr txBox="1"/>
          <p:nvPr/>
        </p:nvSpPr>
        <p:spPr>
          <a:xfrm>
            <a:off x="12930349" y="2199731"/>
            <a:ext cx="3124562" cy="629916"/>
          </a:xfrm>
          <a:prstGeom prst="rect">
            <a:avLst/>
          </a:prstGeom>
        </p:spPr>
        <p:txBody>
          <a:bodyPr wrap="square" lIns="0" tIns="0" rIns="0" bIns="0" rtlCol="0" anchor="t">
            <a:spAutoFit/>
          </a:bodyPr>
          <a:lstStyle/>
          <a:p>
            <a:pPr algn="ctr">
              <a:lnSpc>
                <a:spcPts val="5633"/>
              </a:lnSpc>
              <a:spcBef>
                <a:spcPct val="0"/>
              </a:spcBef>
            </a:pPr>
            <a:r>
              <a:rPr lang="ja-JP" altLang="en-US" sz="4023" b="1" dirty="0">
                <a:solidFill>
                  <a:srgbClr val="262262"/>
                </a:solidFill>
                <a:latin typeface="モトヤゴシック w Bold"/>
                <a:ea typeface="モトヤゴシック w Bold"/>
                <a:cs typeface="モトヤゴシック w Bold"/>
                <a:sym typeface="モトヤゴシック w Bold"/>
              </a:rPr>
              <a:t>判断は難しい</a:t>
            </a:r>
            <a:endParaRPr lang="en-US" sz="4023" b="1" dirty="0">
              <a:solidFill>
                <a:srgbClr val="262262"/>
              </a:solidFill>
              <a:latin typeface="モトヤゴシック w Bold"/>
              <a:ea typeface="モトヤゴシック w Bold"/>
              <a:cs typeface="モトヤゴシック w Bold"/>
              <a:sym typeface="モトヤゴシック w Bo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additive="base">
                                        <p:cTn id="23" dur="500" fill="hold"/>
                                        <p:tgtEl>
                                          <p:spTgt spid="17"/>
                                        </p:tgtEl>
                                        <p:attrNameLst>
                                          <p:attrName>ppt_x</p:attrName>
                                        </p:attrNameLst>
                                      </p:cBhvr>
                                      <p:tavLst>
                                        <p:tav tm="0">
                                          <p:val>
                                            <p:strVal val="#ppt_x"/>
                                          </p:val>
                                        </p:tav>
                                        <p:tav tm="100000">
                                          <p:val>
                                            <p:strVal val="#ppt_x"/>
                                          </p:val>
                                        </p:tav>
                                      </p:tavLst>
                                    </p:anim>
                                    <p:anim calcmode="lin" valueType="num">
                                      <p:cBhvr additive="base">
                                        <p:cTn id="2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619250"/>
            <a:chOff x="0" y="0"/>
            <a:chExt cx="4816593" cy="426469"/>
          </a:xfrm>
        </p:grpSpPr>
        <p:sp>
          <p:nvSpPr>
            <p:cNvPr id="3" name="Freeform 3"/>
            <p:cNvSpPr/>
            <p:nvPr/>
          </p:nvSpPr>
          <p:spPr>
            <a:xfrm>
              <a:off x="0" y="0"/>
              <a:ext cx="4816592" cy="426469"/>
            </a:xfrm>
            <a:custGeom>
              <a:avLst/>
              <a:gdLst/>
              <a:ahLst/>
              <a:cxnLst/>
              <a:rect l="l" t="t" r="r" b="b"/>
              <a:pathLst>
                <a:path w="4816592" h="426469">
                  <a:moveTo>
                    <a:pt x="0" y="0"/>
                  </a:moveTo>
                  <a:lnTo>
                    <a:pt x="4816592" y="0"/>
                  </a:lnTo>
                  <a:lnTo>
                    <a:pt x="4816592" y="426469"/>
                  </a:lnTo>
                  <a:lnTo>
                    <a:pt x="0" y="426469"/>
                  </a:lnTo>
                  <a:close/>
                </a:path>
              </a:pathLst>
            </a:custGeom>
            <a:solidFill>
              <a:srgbClr val="262262"/>
            </a:solidFill>
          </p:spPr>
          <p:txBody>
            <a:bodyPr/>
            <a:lstStyle/>
            <a:p>
              <a:endParaRPr lang="ja-JP" altLang="en-US"/>
            </a:p>
          </p:txBody>
        </p:sp>
        <p:sp>
          <p:nvSpPr>
            <p:cNvPr id="4" name="TextBox 4"/>
            <p:cNvSpPr txBox="1"/>
            <p:nvPr/>
          </p:nvSpPr>
          <p:spPr>
            <a:xfrm>
              <a:off x="0" y="-285750"/>
              <a:ext cx="4816593" cy="712219"/>
            </a:xfrm>
            <a:prstGeom prst="rect">
              <a:avLst/>
            </a:prstGeom>
          </p:spPr>
          <p:txBody>
            <a:bodyPr lIns="50800" tIns="50800" rIns="50800" bIns="50800" rtlCol="0" anchor="ctr"/>
            <a:lstStyle/>
            <a:p>
              <a:pPr algn="ctr">
                <a:lnSpc>
                  <a:spcPts val="3456"/>
                </a:lnSpc>
              </a:pPr>
              <a:endParaRPr/>
            </a:p>
          </p:txBody>
        </p:sp>
      </p:grpSp>
      <p:grpSp>
        <p:nvGrpSpPr>
          <p:cNvPr id="5" name="Group 5"/>
          <p:cNvGrpSpPr/>
          <p:nvPr/>
        </p:nvGrpSpPr>
        <p:grpSpPr>
          <a:xfrm>
            <a:off x="-769371" y="0"/>
            <a:ext cx="3167383" cy="1619250"/>
            <a:chOff x="0" y="0"/>
            <a:chExt cx="979343" cy="500666"/>
          </a:xfrm>
        </p:grpSpPr>
        <p:sp>
          <p:nvSpPr>
            <p:cNvPr id="6" name="Freeform 6"/>
            <p:cNvSpPr/>
            <p:nvPr/>
          </p:nvSpPr>
          <p:spPr>
            <a:xfrm>
              <a:off x="0" y="0"/>
              <a:ext cx="979343" cy="500666"/>
            </a:xfrm>
            <a:custGeom>
              <a:avLst/>
              <a:gdLst/>
              <a:ahLst/>
              <a:cxnLst/>
              <a:rect l="l" t="t" r="r" b="b"/>
              <a:pathLst>
                <a:path w="979343" h="500666">
                  <a:moveTo>
                    <a:pt x="203200" y="0"/>
                  </a:moveTo>
                  <a:lnTo>
                    <a:pt x="979343" y="0"/>
                  </a:lnTo>
                  <a:lnTo>
                    <a:pt x="776143" y="500666"/>
                  </a:lnTo>
                  <a:lnTo>
                    <a:pt x="0" y="500666"/>
                  </a:lnTo>
                  <a:lnTo>
                    <a:pt x="203200" y="0"/>
                  </a:lnTo>
                  <a:close/>
                </a:path>
              </a:pathLst>
            </a:custGeom>
            <a:solidFill>
              <a:srgbClr val="1B75BC"/>
            </a:solidFill>
          </p:spPr>
          <p:txBody>
            <a:bodyPr/>
            <a:lstStyle/>
            <a:p>
              <a:endParaRPr lang="ja-JP" altLang="en-US"/>
            </a:p>
          </p:txBody>
        </p:sp>
        <p:sp>
          <p:nvSpPr>
            <p:cNvPr id="7" name="TextBox 7"/>
            <p:cNvSpPr txBox="1"/>
            <p:nvPr/>
          </p:nvSpPr>
          <p:spPr>
            <a:xfrm>
              <a:off x="101600" y="-285750"/>
              <a:ext cx="776143" cy="786416"/>
            </a:xfrm>
            <a:prstGeom prst="rect">
              <a:avLst/>
            </a:prstGeom>
          </p:spPr>
          <p:txBody>
            <a:bodyPr lIns="50800" tIns="50800" rIns="50800" bIns="50800" rtlCol="0" anchor="ctr"/>
            <a:lstStyle/>
            <a:p>
              <a:pPr algn="ctr">
                <a:lnSpc>
                  <a:spcPts val="3456"/>
                </a:lnSpc>
              </a:pPr>
              <a:endParaRPr/>
            </a:p>
          </p:txBody>
        </p:sp>
      </p:grpSp>
      <p:sp>
        <p:nvSpPr>
          <p:cNvPr id="8" name="Freeform 8"/>
          <p:cNvSpPr/>
          <p:nvPr/>
        </p:nvSpPr>
        <p:spPr>
          <a:xfrm>
            <a:off x="13171646" y="4225929"/>
            <a:ext cx="4727635" cy="6061071"/>
          </a:xfrm>
          <a:custGeom>
            <a:avLst/>
            <a:gdLst/>
            <a:ahLst/>
            <a:cxnLst/>
            <a:rect l="l" t="t" r="r" b="b"/>
            <a:pathLst>
              <a:path w="4727635" h="6061071">
                <a:moveTo>
                  <a:pt x="0" y="0"/>
                </a:moveTo>
                <a:lnTo>
                  <a:pt x="4727636" y="0"/>
                </a:lnTo>
                <a:lnTo>
                  <a:pt x="4727636" y="6061071"/>
                </a:lnTo>
                <a:lnTo>
                  <a:pt x="0" y="6061071"/>
                </a:lnTo>
                <a:lnTo>
                  <a:pt x="0" y="0"/>
                </a:lnTo>
                <a:close/>
              </a:path>
            </a:pathLst>
          </a:custGeom>
          <a:blipFill>
            <a:blip r:embed="rId3"/>
            <a:stretch>
              <a:fillRect/>
            </a:stretch>
          </a:blipFill>
        </p:spPr>
        <p:txBody>
          <a:bodyPr/>
          <a:lstStyle/>
          <a:p>
            <a:endParaRPr lang="ja-JP" altLang="en-US"/>
          </a:p>
        </p:txBody>
      </p:sp>
      <p:sp>
        <p:nvSpPr>
          <p:cNvPr id="9" name="TextBox 9"/>
          <p:cNvSpPr txBox="1"/>
          <p:nvPr/>
        </p:nvSpPr>
        <p:spPr>
          <a:xfrm>
            <a:off x="2927840" y="187826"/>
            <a:ext cx="7285230" cy="1457325"/>
          </a:xfrm>
          <a:prstGeom prst="rect">
            <a:avLst/>
          </a:prstGeom>
        </p:spPr>
        <p:txBody>
          <a:bodyPr lIns="0" tIns="0" rIns="0" bIns="0" rtlCol="0" anchor="t">
            <a:spAutoFit/>
          </a:bodyPr>
          <a:lstStyle/>
          <a:p>
            <a:pPr algn="l">
              <a:lnSpc>
                <a:spcPts val="6900"/>
              </a:lnSpc>
            </a:pPr>
            <a:r>
              <a:rPr lang="en-US" sz="6000" b="1" spc="600" dirty="0" err="1">
                <a:solidFill>
                  <a:srgbClr val="FFFFFF"/>
                </a:solidFill>
                <a:latin typeface="モトヤゴシック w Semi-Bold"/>
                <a:ea typeface="モトヤゴシック w Semi-Bold"/>
                <a:cs typeface="モトヤゴシック w Semi-Bold"/>
                <a:sym typeface="モトヤゴシック w Semi-Bold"/>
              </a:rPr>
              <a:t>背景と課題</a:t>
            </a:r>
            <a:endParaRPr lang="en-US" sz="6000" b="1" spc="600" dirty="0">
              <a:solidFill>
                <a:srgbClr val="FFFFFF"/>
              </a:solidFill>
              <a:latin typeface="モトヤゴシック w Semi-Bold"/>
              <a:ea typeface="モトヤゴシック w Semi-Bold"/>
              <a:cs typeface="モトヤゴシック w Semi-Bold"/>
              <a:sym typeface="モトヤゴシック w Semi-Bold"/>
            </a:endParaRPr>
          </a:p>
        </p:txBody>
      </p:sp>
      <p:sp>
        <p:nvSpPr>
          <p:cNvPr id="10" name="TextBox 10"/>
          <p:cNvSpPr txBox="1"/>
          <p:nvPr/>
        </p:nvSpPr>
        <p:spPr>
          <a:xfrm>
            <a:off x="-68726" y="347540"/>
            <a:ext cx="2138144" cy="1457325"/>
          </a:xfrm>
          <a:prstGeom prst="rect">
            <a:avLst/>
          </a:prstGeom>
        </p:spPr>
        <p:txBody>
          <a:bodyPr lIns="0" tIns="0" rIns="0" bIns="0" rtlCol="0" anchor="t">
            <a:spAutoFit/>
          </a:bodyPr>
          <a:lstStyle/>
          <a:p>
            <a:pPr algn="ctr">
              <a:lnSpc>
                <a:spcPts val="6900"/>
              </a:lnSpc>
            </a:pPr>
            <a:r>
              <a:rPr lang="en-US" sz="6000" b="1" spc="600" dirty="0">
                <a:solidFill>
                  <a:srgbClr val="FFFFFF"/>
                </a:solidFill>
                <a:latin typeface="モトヤゴシック w Semi-Bold"/>
                <a:ea typeface="モトヤゴシック w Semi-Bold"/>
                <a:cs typeface="モトヤゴシック w Semi-Bold"/>
                <a:sym typeface="モトヤゴシック w Semi-Bold"/>
              </a:rPr>
              <a:t>01</a:t>
            </a:r>
          </a:p>
        </p:txBody>
      </p:sp>
      <p:sp>
        <p:nvSpPr>
          <p:cNvPr id="11" name="TextBox 11"/>
          <p:cNvSpPr txBox="1"/>
          <p:nvPr/>
        </p:nvSpPr>
        <p:spPr>
          <a:xfrm>
            <a:off x="1069072" y="2974118"/>
            <a:ext cx="10695014" cy="887095"/>
          </a:xfrm>
          <a:prstGeom prst="rect">
            <a:avLst/>
          </a:prstGeom>
        </p:spPr>
        <p:txBody>
          <a:bodyPr lIns="0" tIns="0" rIns="0" bIns="0" rtlCol="0" anchor="t">
            <a:spAutoFit/>
          </a:bodyPr>
          <a:lstStyle/>
          <a:p>
            <a:pPr algn="ctr">
              <a:lnSpc>
                <a:spcPts val="7279"/>
              </a:lnSpc>
            </a:pPr>
            <a:r>
              <a:rPr lang="en-US" sz="5199" b="1" dirty="0">
                <a:solidFill>
                  <a:srgbClr val="262262"/>
                </a:solidFill>
                <a:latin typeface="Source Han Sans JP Bold"/>
                <a:ea typeface="Source Han Sans JP Bold"/>
                <a:cs typeface="Source Han Sans JP Bold"/>
                <a:sym typeface="Source Han Sans JP Bold"/>
              </a:rPr>
              <a:t>・業者来るのに1~2週間かかる</a:t>
            </a:r>
          </a:p>
        </p:txBody>
      </p:sp>
      <p:sp>
        <p:nvSpPr>
          <p:cNvPr id="12" name="TextBox 12"/>
          <p:cNvSpPr txBox="1"/>
          <p:nvPr/>
        </p:nvSpPr>
        <p:spPr>
          <a:xfrm>
            <a:off x="814320" y="5375688"/>
            <a:ext cx="10695014" cy="887095"/>
          </a:xfrm>
          <a:prstGeom prst="rect">
            <a:avLst/>
          </a:prstGeom>
        </p:spPr>
        <p:txBody>
          <a:bodyPr lIns="0" tIns="0" rIns="0" bIns="0" rtlCol="0" anchor="t">
            <a:spAutoFit/>
          </a:bodyPr>
          <a:lstStyle/>
          <a:p>
            <a:pPr algn="ctr">
              <a:lnSpc>
                <a:spcPts val="7279"/>
              </a:lnSpc>
            </a:pPr>
            <a:r>
              <a:rPr lang="en-US" sz="5199" b="1" dirty="0">
                <a:solidFill>
                  <a:srgbClr val="262262"/>
                </a:solidFill>
                <a:latin typeface="Source Han Sans JP Bold"/>
                <a:ea typeface="Source Han Sans JP Bold"/>
                <a:cs typeface="Source Han Sans JP Bold"/>
                <a:sym typeface="Source Han Sans JP Bold"/>
              </a:rPr>
              <a:t>・</a:t>
            </a:r>
            <a:r>
              <a:rPr lang="en-US" sz="5199" b="1" dirty="0" err="1">
                <a:solidFill>
                  <a:srgbClr val="262262"/>
                </a:solidFill>
                <a:latin typeface="Source Han Sans JP Bold"/>
                <a:ea typeface="Source Han Sans JP Bold"/>
                <a:cs typeface="Source Han Sans JP Bold"/>
                <a:sym typeface="Source Han Sans JP Bold"/>
              </a:rPr>
              <a:t>業者が来ても外しか見ない</a:t>
            </a:r>
            <a:endParaRPr lang="en-US" sz="5199" b="1" dirty="0">
              <a:solidFill>
                <a:srgbClr val="262262"/>
              </a:solidFill>
              <a:latin typeface="Source Han Sans JP Bold"/>
              <a:ea typeface="Source Han Sans JP Bold"/>
              <a:cs typeface="Source Han Sans JP Bold"/>
              <a:sym typeface="Source Han Sans JP Bold"/>
            </a:endParaRPr>
          </a:p>
        </p:txBody>
      </p:sp>
      <p:sp>
        <p:nvSpPr>
          <p:cNvPr id="13" name="TextBox 13"/>
          <p:cNvSpPr txBox="1"/>
          <p:nvPr/>
        </p:nvSpPr>
        <p:spPr>
          <a:xfrm>
            <a:off x="814320" y="7781925"/>
            <a:ext cx="10695014" cy="887095"/>
          </a:xfrm>
          <a:prstGeom prst="rect">
            <a:avLst/>
          </a:prstGeom>
        </p:spPr>
        <p:txBody>
          <a:bodyPr lIns="0" tIns="0" rIns="0" bIns="0" rtlCol="0" anchor="t">
            <a:spAutoFit/>
          </a:bodyPr>
          <a:lstStyle/>
          <a:p>
            <a:pPr algn="ctr">
              <a:lnSpc>
                <a:spcPts val="7279"/>
              </a:lnSpc>
            </a:pPr>
            <a:r>
              <a:rPr lang="en-US" sz="5199" b="1" dirty="0">
                <a:solidFill>
                  <a:srgbClr val="262262"/>
                </a:solidFill>
                <a:latin typeface="Source Han Sans JP Bold"/>
                <a:ea typeface="Source Han Sans JP Bold"/>
                <a:cs typeface="Source Han Sans JP Bold"/>
                <a:sym typeface="Source Han Sans JP Bold"/>
              </a:rPr>
              <a:t>・</a:t>
            </a:r>
            <a:r>
              <a:rPr lang="en-US" sz="5199" b="1" dirty="0" err="1">
                <a:solidFill>
                  <a:srgbClr val="262262"/>
                </a:solidFill>
                <a:latin typeface="Source Han Sans JP Bold"/>
                <a:ea typeface="Source Han Sans JP Bold"/>
                <a:cs typeface="Source Han Sans JP Bold"/>
                <a:sym typeface="Source Han Sans JP Bold"/>
              </a:rPr>
              <a:t>点検商法などの詐欺が怖い</a:t>
            </a:r>
            <a:endParaRPr lang="en-US" sz="5199" b="1" dirty="0">
              <a:solidFill>
                <a:srgbClr val="262262"/>
              </a:solidFill>
              <a:latin typeface="Source Han Sans JP Bold"/>
              <a:ea typeface="Source Han Sans JP Bold"/>
              <a:cs typeface="Source Han Sans JP Bold"/>
              <a:sym typeface="Source Han Sans JP Bold"/>
            </a:endParaRPr>
          </a:p>
        </p:txBody>
      </p:sp>
      <p:sp>
        <p:nvSpPr>
          <p:cNvPr id="14" name="TextBox 14"/>
          <p:cNvSpPr txBox="1"/>
          <p:nvPr/>
        </p:nvSpPr>
        <p:spPr>
          <a:xfrm>
            <a:off x="11494094" y="5375688"/>
            <a:ext cx="8067500" cy="1360921"/>
          </a:xfrm>
          <a:prstGeom prst="rect">
            <a:avLst/>
          </a:prstGeom>
        </p:spPr>
        <p:txBody>
          <a:bodyPr lIns="0" tIns="0" rIns="0" bIns="0" rtlCol="0" anchor="t">
            <a:spAutoFit/>
          </a:bodyPr>
          <a:lstStyle/>
          <a:p>
            <a:pPr algn="ctr">
              <a:lnSpc>
                <a:spcPts val="5491"/>
              </a:lnSpc>
            </a:pPr>
            <a:r>
              <a:rPr lang="en-US" sz="3922" b="1" dirty="0" err="1">
                <a:solidFill>
                  <a:srgbClr val="262262"/>
                </a:solidFill>
                <a:latin typeface="Source Han Sans JP Bold"/>
                <a:ea typeface="Source Han Sans JP Bold"/>
                <a:cs typeface="Source Han Sans JP Bold"/>
                <a:sym typeface="Source Han Sans JP Bold"/>
              </a:rPr>
              <a:t>この建物は</a:t>
            </a:r>
            <a:endParaRPr lang="en-US" sz="3922" b="1" dirty="0">
              <a:solidFill>
                <a:srgbClr val="262262"/>
              </a:solidFill>
              <a:latin typeface="Source Han Sans JP Bold"/>
              <a:ea typeface="Source Han Sans JP Bold"/>
              <a:cs typeface="Source Han Sans JP Bold"/>
              <a:sym typeface="Source Han Sans JP Bold"/>
            </a:endParaRPr>
          </a:p>
          <a:p>
            <a:pPr algn="ctr">
              <a:lnSpc>
                <a:spcPts val="5491"/>
              </a:lnSpc>
            </a:pPr>
            <a:r>
              <a:rPr lang="en-US" sz="3922" b="1" dirty="0" err="1">
                <a:solidFill>
                  <a:srgbClr val="262262"/>
                </a:solidFill>
                <a:latin typeface="Source Han Sans JP Bold"/>
                <a:ea typeface="Source Han Sans JP Bold"/>
                <a:cs typeface="Source Han Sans JP Bold"/>
                <a:sym typeface="Source Han Sans JP Bold"/>
              </a:rPr>
              <a:t>大丈夫なのか</a:t>
            </a:r>
            <a:r>
              <a:rPr lang="en-US" sz="3922" b="1" dirty="0">
                <a:solidFill>
                  <a:srgbClr val="262262"/>
                </a:solidFill>
                <a:latin typeface="Source Han Sans JP Bold"/>
                <a:ea typeface="Source Han Sans JP Bold"/>
                <a:cs typeface="Source Han Sans JP Bold"/>
                <a:sym typeface="Source Han Sans JP Bold"/>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ppt_x"/>
                                          </p:val>
                                        </p:tav>
                                        <p:tav tm="100000">
                                          <p:val>
                                            <p:strVal val="#ppt_x"/>
                                          </p:val>
                                        </p:tav>
                                      </p:tavLst>
                                    </p:anim>
                                    <p:anim calcmode="lin" valueType="num">
                                      <p:cBhvr additive="base">
                                        <p:cTn id="26" dur="500" fill="hold"/>
                                        <p:tgtEl>
                                          <p:spTgt spid="14"/>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p:bldP spid="12" grpId="0"/>
      <p:bldP spid="13"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619250"/>
            <a:chOff x="0" y="0"/>
            <a:chExt cx="4816593" cy="426469"/>
          </a:xfrm>
        </p:grpSpPr>
        <p:sp>
          <p:nvSpPr>
            <p:cNvPr id="3" name="Freeform 3"/>
            <p:cNvSpPr/>
            <p:nvPr/>
          </p:nvSpPr>
          <p:spPr>
            <a:xfrm>
              <a:off x="0" y="0"/>
              <a:ext cx="4816592" cy="426469"/>
            </a:xfrm>
            <a:custGeom>
              <a:avLst/>
              <a:gdLst/>
              <a:ahLst/>
              <a:cxnLst/>
              <a:rect l="l" t="t" r="r" b="b"/>
              <a:pathLst>
                <a:path w="4816592" h="426469">
                  <a:moveTo>
                    <a:pt x="0" y="0"/>
                  </a:moveTo>
                  <a:lnTo>
                    <a:pt x="4816592" y="0"/>
                  </a:lnTo>
                  <a:lnTo>
                    <a:pt x="4816592" y="426469"/>
                  </a:lnTo>
                  <a:lnTo>
                    <a:pt x="0" y="426469"/>
                  </a:lnTo>
                  <a:close/>
                </a:path>
              </a:pathLst>
            </a:custGeom>
            <a:solidFill>
              <a:srgbClr val="262262"/>
            </a:solidFill>
          </p:spPr>
          <p:txBody>
            <a:bodyPr/>
            <a:lstStyle/>
            <a:p>
              <a:endParaRPr lang="ja-JP" altLang="en-US"/>
            </a:p>
          </p:txBody>
        </p:sp>
        <p:sp>
          <p:nvSpPr>
            <p:cNvPr id="4" name="TextBox 4"/>
            <p:cNvSpPr txBox="1"/>
            <p:nvPr/>
          </p:nvSpPr>
          <p:spPr>
            <a:xfrm>
              <a:off x="0" y="-285750"/>
              <a:ext cx="4816593" cy="712219"/>
            </a:xfrm>
            <a:prstGeom prst="rect">
              <a:avLst/>
            </a:prstGeom>
          </p:spPr>
          <p:txBody>
            <a:bodyPr lIns="50800" tIns="50800" rIns="50800" bIns="50800" rtlCol="0" anchor="ctr"/>
            <a:lstStyle/>
            <a:p>
              <a:pPr algn="ctr">
                <a:lnSpc>
                  <a:spcPts val="3456"/>
                </a:lnSpc>
              </a:pPr>
              <a:endParaRPr/>
            </a:p>
          </p:txBody>
        </p:sp>
      </p:grpSp>
      <p:grpSp>
        <p:nvGrpSpPr>
          <p:cNvPr id="5" name="Group 5"/>
          <p:cNvGrpSpPr/>
          <p:nvPr/>
        </p:nvGrpSpPr>
        <p:grpSpPr>
          <a:xfrm>
            <a:off x="-769371" y="0"/>
            <a:ext cx="3167383" cy="1619250"/>
            <a:chOff x="0" y="0"/>
            <a:chExt cx="979343" cy="500666"/>
          </a:xfrm>
        </p:grpSpPr>
        <p:sp>
          <p:nvSpPr>
            <p:cNvPr id="6" name="Freeform 6"/>
            <p:cNvSpPr/>
            <p:nvPr/>
          </p:nvSpPr>
          <p:spPr>
            <a:xfrm>
              <a:off x="0" y="0"/>
              <a:ext cx="979343" cy="500666"/>
            </a:xfrm>
            <a:custGeom>
              <a:avLst/>
              <a:gdLst/>
              <a:ahLst/>
              <a:cxnLst/>
              <a:rect l="l" t="t" r="r" b="b"/>
              <a:pathLst>
                <a:path w="979343" h="500666">
                  <a:moveTo>
                    <a:pt x="203200" y="0"/>
                  </a:moveTo>
                  <a:lnTo>
                    <a:pt x="979343" y="0"/>
                  </a:lnTo>
                  <a:lnTo>
                    <a:pt x="776143" y="500666"/>
                  </a:lnTo>
                  <a:lnTo>
                    <a:pt x="0" y="500666"/>
                  </a:lnTo>
                  <a:lnTo>
                    <a:pt x="203200" y="0"/>
                  </a:lnTo>
                  <a:close/>
                </a:path>
              </a:pathLst>
            </a:custGeom>
            <a:solidFill>
              <a:srgbClr val="1B75BC"/>
            </a:solidFill>
          </p:spPr>
          <p:txBody>
            <a:bodyPr/>
            <a:lstStyle/>
            <a:p>
              <a:endParaRPr lang="ja-JP" altLang="en-US"/>
            </a:p>
          </p:txBody>
        </p:sp>
        <p:sp>
          <p:nvSpPr>
            <p:cNvPr id="7" name="TextBox 7"/>
            <p:cNvSpPr txBox="1"/>
            <p:nvPr/>
          </p:nvSpPr>
          <p:spPr>
            <a:xfrm>
              <a:off x="101600" y="-285750"/>
              <a:ext cx="776143" cy="786416"/>
            </a:xfrm>
            <a:prstGeom prst="rect">
              <a:avLst/>
            </a:prstGeom>
          </p:spPr>
          <p:txBody>
            <a:bodyPr lIns="50800" tIns="50800" rIns="50800" bIns="50800" rtlCol="0" anchor="ctr"/>
            <a:lstStyle/>
            <a:p>
              <a:pPr algn="ctr">
                <a:lnSpc>
                  <a:spcPts val="3456"/>
                </a:lnSpc>
              </a:pPr>
              <a:endParaRPr/>
            </a:p>
          </p:txBody>
        </p:sp>
      </p:grpSp>
      <p:sp>
        <p:nvSpPr>
          <p:cNvPr id="9" name="TextBox 9"/>
          <p:cNvSpPr txBox="1"/>
          <p:nvPr/>
        </p:nvSpPr>
        <p:spPr>
          <a:xfrm>
            <a:off x="2726606" y="338429"/>
            <a:ext cx="7285230" cy="1438124"/>
          </a:xfrm>
          <a:prstGeom prst="rect">
            <a:avLst/>
          </a:prstGeom>
        </p:spPr>
        <p:txBody>
          <a:bodyPr lIns="0" tIns="0" rIns="0" bIns="0" rtlCol="0" anchor="t">
            <a:spAutoFit/>
          </a:bodyPr>
          <a:lstStyle/>
          <a:p>
            <a:pPr algn="l">
              <a:lnSpc>
                <a:spcPts val="6872"/>
              </a:lnSpc>
            </a:pPr>
            <a:r>
              <a:rPr lang="en-US" sz="5976" b="1" spc="597" dirty="0" err="1">
                <a:solidFill>
                  <a:srgbClr val="FFFFFF"/>
                </a:solidFill>
                <a:latin typeface="モトヤゴシック w Semi-Bold"/>
                <a:ea typeface="モトヤゴシック w Semi-Bold"/>
                <a:cs typeface="モトヤゴシック w Semi-Bold"/>
                <a:sym typeface="モトヤゴシック w Semi-Bold"/>
              </a:rPr>
              <a:t>課題解決に向けて</a:t>
            </a:r>
            <a:endParaRPr lang="en-US" sz="5976" b="1" spc="597" dirty="0">
              <a:solidFill>
                <a:srgbClr val="FFFFFF"/>
              </a:solidFill>
              <a:latin typeface="モトヤゴシック w Semi-Bold"/>
              <a:ea typeface="モトヤゴシック w Semi-Bold"/>
              <a:cs typeface="モトヤゴシック w Semi-Bold"/>
              <a:sym typeface="モトヤゴシック w Semi-Bold"/>
            </a:endParaRPr>
          </a:p>
        </p:txBody>
      </p:sp>
      <p:sp>
        <p:nvSpPr>
          <p:cNvPr id="10" name="TextBox 10"/>
          <p:cNvSpPr txBox="1"/>
          <p:nvPr/>
        </p:nvSpPr>
        <p:spPr>
          <a:xfrm>
            <a:off x="-68724" y="258783"/>
            <a:ext cx="2138144" cy="1457325"/>
          </a:xfrm>
          <a:prstGeom prst="rect">
            <a:avLst/>
          </a:prstGeom>
        </p:spPr>
        <p:txBody>
          <a:bodyPr lIns="0" tIns="0" rIns="0" bIns="0" rtlCol="0" anchor="t">
            <a:spAutoFit/>
          </a:bodyPr>
          <a:lstStyle/>
          <a:p>
            <a:pPr algn="ctr">
              <a:lnSpc>
                <a:spcPts val="6900"/>
              </a:lnSpc>
            </a:pPr>
            <a:r>
              <a:rPr lang="en-US" sz="6000" b="1" spc="600" dirty="0">
                <a:solidFill>
                  <a:srgbClr val="FFFFFF"/>
                </a:solidFill>
                <a:latin typeface="モトヤゴシック w Semi-Bold"/>
                <a:ea typeface="モトヤゴシック w Semi-Bold"/>
                <a:cs typeface="モトヤゴシック w Semi-Bold"/>
                <a:sym typeface="モトヤゴシック w Semi-Bold"/>
              </a:rPr>
              <a:t>02</a:t>
            </a:r>
          </a:p>
        </p:txBody>
      </p:sp>
      <p:sp>
        <p:nvSpPr>
          <p:cNvPr id="11" name="TextBox 11"/>
          <p:cNvSpPr txBox="1"/>
          <p:nvPr/>
        </p:nvSpPr>
        <p:spPr>
          <a:xfrm>
            <a:off x="1824414" y="2238059"/>
            <a:ext cx="4601385" cy="1377760"/>
          </a:xfrm>
          <a:prstGeom prst="rect">
            <a:avLst/>
          </a:prstGeom>
        </p:spPr>
        <p:txBody>
          <a:bodyPr lIns="0" tIns="0" rIns="0" bIns="0" rtlCol="0" anchor="t">
            <a:spAutoFit/>
          </a:bodyPr>
          <a:lstStyle/>
          <a:p>
            <a:pPr algn="ctr">
              <a:lnSpc>
                <a:spcPts val="7247"/>
              </a:lnSpc>
              <a:spcBef>
                <a:spcPct val="0"/>
              </a:spcBef>
            </a:pPr>
            <a:r>
              <a:rPr lang="en-US" sz="5176" b="1">
                <a:solidFill>
                  <a:srgbClr val="262262"/>
                </a:solidFill>
                <a:latin typeface="モトヤゴシック w Bold"/>
                <a:ea typeface="モトヤゴシック w Bold"/>
                <a:cs typeface="モトヤゴシック w Bold"/>
                <a:sym typeface="モトヤゴシック w Bold"/>
              </a:rPr>
              <a:t>専門知識なしで</a:t>
            </a:r>
          </a:p>
        </p:txBody>
      </p:sp>
      <p:sp>
        <p:nvSpPr>
          <p:cNvPr id="12" name="TextBox 12"/>
          <p:cNvSpPr txBox="1"/>
          <p:nvPr/>
        </p:nvSpPr>
        <p:spPr>
          <a:xfrm>
            <a:off x="2726606" y="4018868"/>
            <a:ext cx="2531232" cy="933269"/>
          </a:xfrm>
          <a:prstGeom prst="rect">
            <a:avLst/>
          </a:prstGeom>
        </p:spPr>
        <p:txBody>
          <a:bodyPr wrap="square" lIns="0" tIns="0" rIns="0" bIns="0" rtlCol="0" anchor="t">
            <a:spAutoFit/>
          </a:bodyPr>
          <a:lstStyle/>
          <a:p>
            <a:pPr algn="ctr">
              <a:lnSpc>
                <a:spcPts val="8324"/>
              </a:lnSpc>
              <a:spcBef>
                <a:spcPct val="0"/>
              </a:spcBef>
            </a:pPr>
            <a:r>
              <a:rPr lang="en-US" sz="5946" b="1" dirty="0" err="1">
                <a:solidFill>
                  <a:srgbClr val="262262"/>
                </a:solidFill>
                <a:latin typeface="モトヤゴシック w Bold"/>
                <a:ea typeface="モトヤゴシック w Bold"/>
                <a:cs typeface="モトヤゴシック w Bold"/>
                <a:sym typeface="モトヤゴシック w Bold"/>
              </a:rPr>
              <a:t>簡単に</a:t>
            </a:r>
            <a:endParaRPr lang="en-US" sz="5946" b="1" dirty="0">
              <a:solidFill>
                <a:srgbClr val="262262"/>
              </a:solidFill>
              <a:latin typeface="モトヤゴシック w Bold"/>
              <a:ea typeface="モトヤゴシック w Bold"/>
              <a:cs typeface="モトヤゴシック w Bold"/>
              <a:sym typeface="モトヤゴシック w Bold"/>
            </a:endParaRPr>
          </a:p>
        </p:txBody>
      </p:sp>
      <p:sp>
        <p:nvSpPr>
          <p:cNvPr id="13" name="TextBox 13"/>
          <p:cNvSpPr txBox="1"/>
          <p:nvPr/>
        </p:nvSpPr>
        <p:spPr>
          <a:xfrm>
            <a:off x="698364" y="5744646"/>
            <a:ext cx="6587715" cy="1853071"/>
          </a:xfrm>
          <a:prstGeom prst="rect">
            <a:avLst/>
          </a:prstGeom>
        </p:spPr>
        <p:txBody>
          <a:bodyPr wrap="square" lIns="0" tIns="0" rIns="0" bIns="0" rtlCol="0" anchor="t">
            <a:spAutoFit/>
          </a:bodyPr>
          <a:lstStyle/>
          <a:p>
            <a:pPr algn="ctr">
              <a:lnSpc>
                <a:spcPts val="7713"/>
              </a:lnSpc>
            </a:pPr>
            <a:r>
              <a:rPr lang="en-US" sz="5509" b="1" dirty="0" err="1">
                <a:solidFill>
                  <a:srgbClr val="262262"/>
                </a:solidFill>
                <a:latin typeface="モトヤゴシック w Bold"/>
                <a:ea typeface="モトヤゴシック w Bold"/>
                <a:cs typeface="モトヤゴシック w Bold"/>
                <a:sym typeface="モトヤゴシック w Bold"/>
              </a:rPr>
              <a:t>建物の被害状況を</a:t>
            </a:r>
            <a:endParaRPr lang="en-US" sz="5509" b="1" dirty="0">
              <a:solidFill>
                <a:srgbClr val="262262"/>
              </a:solidFill>
              <a:latin typeface="モトヤゴシック w Bold"/>
              <a:ea typeface="モトヤゴシック w Bold"/>
              <a:cs typeface="モトヤゴシック w Bold"/>
              <a:sym typeface="モトヤゴシック w Bold"/>
            </a:endParaRPr>
          </a:p>
          <a:p>
            <a:pPr algn="ctr">
              <a:lnSpc>
                <a:spcPts val="7713"/>
              </a:lnSpc>
              <a:spcBef>
                <a:spcPct val="0"/>
              </a:spcBef>
            </a:pPr>
            <a:r>
              <a:rPr lang="en-US" sz="5509" b="1" dirty="0" err="1">
                <a:solidFill>
                  <a:srgbClr val="262262"/>
                </a:solidFill>
                <a:latin typeface="モトヤゴシック w Bold"/>
                <a:ea typeface="モトヤゴシック w Bold"/>
                <a:cs typeface="モトヤゴシック w Bold"/>
                <a:sym typeface="モトヤゴシック w Bold"/>
              </a:rPr>
              <a:t>確認できるシステム</a:t>
            </a:r>
            <a:endParaRPr lang="en-US" sz="5509" b="1" dirty="0">
              <a:solidFill>
                <a:srgbClr val="262262"/>
              </a:solidFill>
              <a:latin typeface="モトヤゴシック w Bold"/>
              <a:ea typeface="モトヤゴシック w Bold"/>
              <a:cs typeface="モトヤゴシック w Bold"/>
              <a:sym typeface="モトヤゴシック w Bold"/>
            </a:endParaRPr>
          </a:p>
        </p:txBody>
      </p:sp>
      <p:pic>
        <p:nvPicPr>
          <p:cNvPr id="15" name="図 14">
            <a:extLst>
              <a:ext uri="{FF2B5EF4-FFF2-40B4-BE49-F238E27FC236}">
                <a16:creationId xmlns:a16="http://schemas.microsoft.com/office/drawing/2014/main" id="{D9A1F62E-1038-1029-CB66-FC2AFAC9EA7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1506" y="1990056"/>
            <a:ext cx="5162603" cy="2393640"/>
          </a:xfrm>
          <a:prstGeom prst="rect">
            <a:avLst/>
          </a:prstGeom>
        </p:spPr>
      </p:pic>
      <p:pic>
        <p:nvPicPr>
          <p:cNvPr id="17" name="図 16">
            <a:extLst>
              <a:ext uri="{FF2B5EF4-FFF2-40B4-BE49-F238E27FC236}">
                <a16:creationId xmlns:a16="http://schemas.microsoft.com/office/drawing/2014/main" id="{D1837D39-BC17-0F03-2858-DA76070A16D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980212" y="1950029"/>
            <a:ext cx="5162603" cy="2423193"/>
          </a:xfrm>
          <a:prstGeom prst="rect">
            <a:avLst/>
          </a:prstGeom>
        </p:spPr>
      </p:pic>
      <p:pic>
        <p:nvPicPr>
          <p:cNvPr id="19" name="図 18">
            <a:extLst>
              <a:ext uri="{FF2B5EF4-FFF2-40B4-BE49-F238E27FC236}">
                <a16:creationId xmlns:a16="http://schemas.microsoft.com/office/drawing/2014/main" id="{801381DC-9E45-D079-C146-262995F7387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85402" y="4411538"/>
            <a:ext cx="5194810" cy="2452042"/>
          </a:xfrm>
          <a:prstGeom prst="rect">
            <a:avLst/>
          </a:prstGeom>
        </p:spPr>
      </p:pic>
      <p:pic>
        <p:nvPicPr>
          <p:cNvPr id="21" name="図 20">
            <a:extLst>
              <a:ext uri="{FF2B5EF4-FFF2-40B4-BE49-F238E27FC236}">
                <a16:creationId xmlns:a16="http://schemas.microsoft.com/office/drawing/2014/main" id="{9A24DB79-A477-F39C-1B27-0238B25DA75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2980212" y="4564539"/>
            <a:ext cx="5194810" cy="2395833"/>
          </a:xfrm>
          <a:prstGeom prst="rect">
            <a:avLst/>
          </a:prstGeom>
        </p:spPr>
      </p:pic>
      <p:pic>
        <p:nvPicPr>
          <p:cNvPr id="23" name="図 22">
            <a:extLst>
              <a:ext uri="{FF2B5EF4-FFF2-40B4-BE49-F238E27FC236}">
                <a16:creationId xmlns:a16="http://schemas.microsoft.com/office/drawing/2014/main" id="{87848908-1274-F797-B7F0-30F72BF8395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394101" y="7113373"/>
            <a:ext cx="6328319" cy="293412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619250"/>
            <a:chOff x="0" y="0"/>
            <a:chExt cx="4816593" cy="426469"/>
          </a:xfrm>
        </p:grpSpPr>
        <p:sp>
          <p:nvSpPr>
            <p:cNvPr id="3" name="Freeform 3"/>
            <p:cNvSpPr/>
            <p:nvPr/>
          </p:nvSpPr>
          <p:spPr>
            <a:xfrm>
              <a:off x="0" y="0"/>
              <a:ext cx="4816592" cy="426469"/>
            </a:xfrm>
            <a:custGeom>
              <a:avLst/>
              <a:gdLst/>
              <a:ahLst/>
              <a:cxnLst/>
              <a:rect l="l" t="t" r="r" b="b"/>
              <a:pathLst>
                <a:path w="4816592" h="426469">
                  <a:moveTo>
                    <a:pt x="0" y="0"/>
                  </a:moveTo>
                  <a:lnTo>
                    <a:pt x="4816592" y="0"/>
                  </a:lnTo>
                  <a:lnTo>
                    <a:pt x="4816592" y="426469"/>
                  </a:lnTo>
                  <a:lnTo>
                    <a:pt x="0" y="426469"/>
                  </a:lnTo>
                  <a:close/>
                </a:path>
              </a:pathLst>
            </a:custGeom>
            <a:solidFill>
              <a:srgbClr val="262262"/>
            </a:solidFill>
          </p:spPr>
          <p:txBody>
            <a:bodyPr/>
            <a:lstStyle/>
            <a:p>
              <a:endParaRPr lang="ja-JP" altLang="en-US"/>
            </a:p>
          </p:txBody>
        </p:sp>
        <p:sp>
          <p:nvSpPr>
            <p:cNvPr id="4" name="TextBox 4"/>
            <p:cNvSpPr txBox="1"/>
            <p:nvPr/>
          </p:nvSpPr>
          <p:spPr>
            <a:xfrm>
              <a:off x="0" y="-285750"/>
              <a:ext cx="4816593" cy="712219"/>
            </a:xfrm>
            <a:prstGeom prst="rect">
              <a:avLst/>
            </a:prstGeom>
          </p:spPr>
          <p:txBody>
            <a:bodyPr lIns="50800" tIns="50800" rIns="50800" bIns="50800" rtlCol="0" anchor="ctr"/>
            <a:lstStyle/>
            <a:p>
              <a:pPr algn="ctr">
                <a:lnSpc>
                  <a:spcPts val="3456"/>
                </a:lnSpc>
              </a:pPr>
              <a:endParaRPr/>
            </a:p>
          </p:txBody>
        </p:sp>
      </p:grpSp>
      <p:grpSp>
        <p:nvGrpSpPr>
          <p:cNvPr id="5" name="Group 5"/>
          <p:cNvGrpSpPr/>
          <p:nvPr/>
        </p:nvGrpSpPr>
        <p:grpSpPr>
          <a:xfrm>
            <a:off x="-769371" y="0"/>
            <a:ext cx="3167383" cy="1619250"/>
            <a:chOff x="0" y="0"/>
            <a:chExt cx="979343" cy="500666"/>
          </a:xfrm>
        </p:grpSpPr>
        <p:sp>
          <p:nvSpPr>
            <p:cNvPr id="6" name="Freeform 6"/>
            <p:cNvSpPr/>
            <p:nvPr/>
          </p:nvSpPr>
          <p:spPr>
            <a:xfrm>
              <a:off x="0" y="0"/>
              <a:ext cx="979343" cy="500666"/>
            </a:xfrm>
            <a:custGeom>
              <a:avLst/>
              <a:gdLst/>
              <a:ahLst/>
              <a:cxnLst/>
              <a:rect l="l" t="t" r="r" b="b"/>
              <a:pathLst>
                <a:path w="979343" h="500666">
                  <a:moveTo>
                    <a:pt x="203200" y="0"/>
                  </a:moveTo>
                  <a:lnTo>
                    <a:pt x="979343" y="0"/>
                  </a:lnTo>
                  <a:lnTo>
                    <a:pt x="776143" y="500666"/>
                  </a:lnTo>
                  <a:lnTo>
                    <a:pt x="0" y="500666"/>
                  </a:lnTo>
                  <a:lnTo>
                    <a:pt x="203200" y="0"/>
                  </a:lnTo>
                  <a:close/>
                </a:path>
              </a:pathLst>
            </a:custGeom>
            <a:solidFill>
              <a:srgbClr val="1B75BC"/>
            </a:solidFill>
          </p:spPr>
          <p:txBody>
            <a:bodyPr/>
            <a:lstStyle/>
            <a:p>
              <a:endParaRPr lang="ja-JP" altLang="en-US"/>
            </a:p>
          </p:txBody>
        </p:sp>
        <p:sp>
          <p:nvSpPr>
            <p:cNvPr id="7" name="TextBox 7"/>
            <p:cNvSpPr txBox="1"/>
            <p:nvPr/>
          </p:nvSpPr>
          <p:spPr>
            <a:xfrm>
              <a:off x="101600" y="-285750"/>
              <a:ext cx="776143" cy="786416"/>
            </a:xfrm>
            <a:prstGeom prst="rect">
              <a:avLst/>
            </a:prstGeom>
          </p:spPr>
          <p:txBody>
            <a:bodyPr lIns="50800" tIns="50800" rIns="50800" bIns="50800" rtlCol="0" anchor="ctr"/>
            <a:lstStyle/>
            <a:p>
              <a:pPr algn="ctr">
                <a:lnSpc>
                  <a:spcPts val="3456"/>
                </a:lnSpc>
              </a:pPr>
              <a:endParaRPr/>
            </a:p>
          </p:txBody>
        </p:sp>
      </p:grpSp>
      <p:grpSp>
        <p:nvGrpSpPr>
          <p:cNvPr id="8" name="Group 8"/>
          <p:cNvGrpSpPr/>
          <p:nvPr/>
        </p:nvGrpSpPr>
        <p:grpSpPr>
          <a:xfrm>
            <a:off x="6729719" y="3899617"/>
            <a:ext cx="2845058" cy="3343693"/>
            <a:chOff x="0" y="0"/>
            <a:chExt cx="3793411" cy="4458258"/>
          </a:xfrm>
        </p:grpSpPr>
        <p:sp>
          <p:nvSpPr>
            <p:cNvPr id="9" name="Freeform 9"/>
            <p:cNvSpPr/>
            <p:nvPr/>
          </p:nvSpPr>
          <p:spPr>
            <a:xfrm>
              <a:off x="2173676" y="0"/>
              <a:ext cx="1619735" cy="1619735"/>
            </a:xfrm>
            <a:custGeom>
              <a:avLst/>
              <a:gdLst/>
              <a:ahLst/>
              <a:cxnLst/>
              <a:rect l="l" t="t" r="r" b="b"/>
              <a:pathLst>
                <a:path w="1619735" h="1619735">
                  <a:moveTo>
                    <a:pt x="0" y="0"/>
                  </a:moveTo>
                  <a:lnTo>
                    <a:pt x="1619735" y="0"/>
                  </a:lnTo>
                  <a:lnTo>
                    <a:pt x="1619735" y="1619735"/>
                  </a:lnTo>
                  <a:lnTo>
                    <a:pt x="0" y="161973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p>
          </p:txBody>
        </p:sp>
        <p:sp>
          <p:nvSpPr>
            <p:cNvPr id="10" name="Freeform 10"/>
            <p:cNvSpPr/>
            <p:nvPr/>
          </p:nvSpPr>
          <p:spPr>
            <a:xfrm>
              <a:off x="0" y="1974056"/>
              <a:ext cx="2173676" cy="2484202"/>
            </a:xfrm>
            <a:custGeom>
              <a:avLst/>
              <a:gdLst/>
              <a:ahLst/>
              <a:cxnLst/>
              <a:rect l="l" t="t" r="r" b="b"/>
              <a:pathLst>
                <a:path w="2173676" h="2484202">
                  <a:moveTo>
                    <a:pt x="0" y="0"/>
                  </a:moveTo>
                  <a:lnTo>
                    <a:pt x="2173676" y="0"/>
                  </a:lnTo>
                  <a:lnTo>
                    <a:pt x="2173676" y="2484202"/>
                  </a:lnTo>
                  <a:lnTo>
                    <a:pt x="0" y="2484202"/>
                  </a:lnTo>
                  <a:lnTo>
                    <a:pt x="0" y="0"/>
                  </a:lnTo>
                  <a:close/>
                </a:path>
              </a:pathLst>
            </a:custGeom>
            <a:blipFill>
              <a:blip r:embed="rId4"/>
              <a:stretch>
                <a:fillRect/>
              </a:stretch>
            </a:blipFill>
          </p:spPr>
          <p:txBody>
            <a:bodyPr/>
            <a:lstStyle/>
            <a:p>
              <a:endParaRPr lang="ja-JP" altLang="en-US"/>
            </a:p>
          </p:txBody>
        </p:sp>
      </p:grpSp>
      <p:sp>
        <p:nvSpPr>
          <p:cNvPr id="11" name="Freeform 11"/>
          <p:cNvSpPr/>
          <p:nvPr/>
        </p:nvSpPr>
        <p:spPr>
          <a:xfrm>
            <a:off x="211811" y="8292407"/>
            <a:ext cx="1976970" cy="2007076"/>
          </a:xfrm>
          <a:custGeom>
            <a:avLst/>
            <a:gdLst/>
            <a:ahLst/>
            <a:cxnLst/>
            <a:rect l="l" t="t" r="r" b="b"/>
            <a:pathLst>
              <a:path w="1976970" h="2007076">
                <a:moveTo>
                  <a:pt x="0" y="0"/>
                </a:moveTo>
                <a:lnTo>
                  <a:pt x="1976970" y="0"/>
                </a:lnTo>
                <a:lnTo>
                  <a:pt x="1976970" y="2007076"/>
                </a:lnTo>
                <a:lnTo>
                  <a:pt x="0" y="200707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ja-JP" altLang="en-US"/>
          </a:p>
        </p:txBody>
      </p:sp>
      <p:sp>
        <p:nvSpPr>
          <p:cNvPr id="12" name="Freeform 12"/>
          <p:cNvSpPr/>
          <p:nvPr/>
        </p:nvSpPr>
        <p:spPr>
          <a:xfrm rot="5400000">
            <a:off x="4102073" y="5405464"/>
            <a:ext cx="1898923" cy="626645"/>
          </a:xfrm>
          <a:custGeom>
            <a:avLst/>
            <a:gdLst/>
            <a:ahLst/>
            <a:cxnLst/>
            <a:rect l="l" t="t" r="r" b="b"/>
            <a:pathLst>
              <a:path w="1898923" h="626645">
                <a:moveTo>
                  <a:pt x="0" y="0"/>
                </a:moveTo>
                <a:lnTo>
                  <a:pt x="1898923" y="0"/>
                </a:lnTo>
                <a:lnTo>
                  <a:pt x="1898923" y="626644"/>
                </a:lnTo>
                <a:lnTo>
                  <a:pt x="0" y="62664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ja-JP" altLang="en-US"/>
          </a:p>
        </p:txBody>
      </p:sp>
      <p:sp>
        <p:nvSpPr>
          <p:cNvPr id="13" name="Freeform 13"/>
          <p:cNvSpPr/>
          <p:nvPr/>
        </p:nvSpPr>
        <p:spPr>
          <a:xfrm>
            <a:off x="14999001" y="2067407"/>
            <a:ext cx="2917308" cy="3070851"/>
          </a:xfrm>
          <a:custGeom>
            <a:avLst/>
            <a:gdLst/>
            <a:ahLst/>
            <a:cxnLst/>
            <a:rect l="l" t="t" r="r" b="b"/>
            <a:pathLst>
              <a:path w="2917308" h="3070851">
                <a:moveTo>
                  <a:pt x="0" y="0"/>
                </a:moveTo>
                <a:lnTo>
                  <a:pt x="2917309" y="0"/>
                </a:lnTo>
                <a:lnTo>
                  <a:pt x="2917309" y="3070851"/>
                </a:lnTo>
                <a:lnTo>
                  <a:pt x="0" y="3070851"/>
                </a:lnTo>
                <a:lnTo>
                  <a:pt x="0" y="0"/>
                </a:lnTo>
                <a:close/>
              </a:path>
            </a:pathLst>
          </a:custGeom>
          <a:blipFill>
            <a:blip r:embed="rId7"/>
            <a:stretch>
              <a:fillRect/>
            </a:stretch>
          </a:blipFill>
        </p:spPr>
        <p:txBody>
          <a:bodyPr/>
          <a:lstStyle/>
          <a:p>
            <a:endParaRPr lang="ja-JP" altLang="en-US"/>
          </a:p>
        </p:txBody>
      </p:sp>
      <p:sp>
        <p:nvSpPr>
          <p:cNvPr id="14" name="TextBox 14"/>
          <p:cNvSpPr txBox="1"/>
          <p:nvPr/>
        </p:nvSpPr>
        <p:spPr>
          <a:xfrm>
            <a:off x="2743962" y="267146"/>
            <a:ext cx="7285230" cy="1457325"/>
          </a:xfrm>
          <a:prstGeom prst="rect">
            <a:avLst/>
          </a:prstGeom>
        </p:spPr>
        <p:txBody>
          <a:bodyPr lIns="0" tIns="0" rIns="0" bIns="0" rtlCol="0" anchor="t">
            <a:spAutoFit/>
          </a:bodyPr>
          <a:lstStyle/>
          <a:p>
            <a:pPr algn="l">
              <a:lnSpc>
                <a:spcPts val="6900"/>
              </a:lnSpc>
            </a:pPr>
            <a:r>
              <a:rPr lang="en-US" sz="6000" b="1" spc="600" dirty="0" err="1">
                <a:solidFill>
                  <a:srgbClr val="FFFFFF"/>
                </a:solidFill>
                <a:latin typeface="モトヤゴシック w Semi-Bold"/>
                <a:ea typeface="モトヤゴシック w Semi-Bold"/>
                <a:cs typeface="モトヤゴシック w Semi-Bold"/>
                <a:sym typeface="モトヤゴシック w Semi-Bold"/>
              </a:rPr>
              <a:t>システムの概要</a:t>
            </a:r>
            <a:endParaRPr lang="en-US" sz="6000" b="1" spc="600" dirty="0">
              <a:solidFill>
                <a:srgbClr val="FFFFFF"/>
              </a:solidFill>
              <a:latin typeface="モトヤゴシック w Semi-Bold"/>
              <a:ea typeface="モトヤゴシック w Semi-Bold"/>
              <a:cs typeface="モトヤゴシック w Semi-Bold"/>
              <a:sym typeface="モトヤゴシック w Semi-Bold"/>
            </a:endParaRPr>
          </a:p>
        </p:txBody>
      </p:sp>
      <p:sp>
        <p:nvSpPr>
          <p:cNvPr id="15" name="TextBox 15"/>
          <p:cNvSpPr txBox="1"/>
          <p:nvPr/>
        </p:nvSpPr>
        <p:spPr>
          <a:xfrm>
            <a:off x="-68724" y="347540"/>
            <a:ext cx="2138144" cy="1457325"/>
          </a:xfrm>
          <a:prstGeom prst="rect">
            <a:avLst/>
          </a:prstGeom>
        </p:spPr>
        <p:txBody>
          <a:bodyPr lIns="0" tIns="0" rIns="0" bIns="0" rtlCol="0" anchor="t">
            <a:spAutoFit/>
          </a:bodyPr>
          <a:lstStyle/>
          <a:p>
            <a:pPr algn="ctr">
              <a:lnSpc>
                <a:spcPts val="6900"/>
              </a:lnSpc>
            </a:pPr>
            <a:r>
              <a:rPr lang="en-US" sz="6000" b="1" spc="600" dirty="0">
                <a:solidFill>
                  <a:srgbClr val="FFFFFF"/>
                </a:solidFill>
                <a:latin typeface="モトヤゴシック w Semi-Bold"/>
                <a:ea typeface="モトヤゴシック w Semi-Bold"/>
                <a:cs typeface="モトヤゴシック w Semi-Bold"/>
                <a:sym typeface="モトヤゴシック w Semi-Bold"/>
              </a:rPr>
              <a:t>03</a:t>
            </a:r>
          </a:p>
        </p:txBody>
      </p:sp>
      <p:sp>
        <p:nvSpPr>
          <p:cNvPr id="16" name="TextBox 16"/>
          <p:cNvSpPr txBox="1"/>
          <p:nvPr/>
        </p:nvSpPr>
        <p:spPr>
          <a:xfrm>
            <a:off x="1950820" y="2422862"/>
            <a:ext cx="6201428" cy="1179970"/>
          </a:xfrm>
          <a:prstGeom prst="rect">
            <a:avLst/>
          </a:prstGeom>
        </p:spPr>
        <p:txBody>
          <a:bodyPr lIns="0" tIns="0" rIns="0" bIns="0" rtlCol="0" anchor="t">
            <a:spAutoFit/>
          </a:bodyPr>
          <a:lstStyle/>
          <a:p>
            <a:pPr algn="ctr">
              <a:lnSpc>
                <a:spcPts val="6215"/>
              </a:lnSpc>
              <a:spcBef>
                <a:spcPct val="0"/>
              </a:spcBef>
            </a:pPr>
            <a:r>
              <a:rPr lang="en-US" sz="4439" b="1" dirty="0" err="1">
                <a:solidFill>
                  <a:srgbClr val="262262"/>
                </a:solidFill>
                <a:latin typeface="モトヤゴシック w Bold"/>
                <a:ea typeface="モトヤゴシック w Bold"/>
                <a:cs typeface="モトヤゴシック w Bold"/>
                <a:sym typeface="モトヤゴシック w Bold"/>
              </a:rPr>
              <a:t>写真を撮影、情報を入力</a:t>
            </a:r>
            <a:endParaRPr lang="en-US" sz="4439" b="1" dirty="0">
              <a:solidFill>
                <a:srgbClr val="262262"/>
              </a:solidFill>
              <a:latin typeface="モトヤゴシック w Bold"/>
              <a:ea typeface="モトヤゴシック w Bold"/>
              <a:cs typeface="モトヤゴシック w Bold"/>
              <a:sym typeface="モトヤゴシック w Bold"/>
            </a:endParaRPr>
          </a:p>
        </p:txBody>
      </p:sp>
      <p:sp>
        <p:nvSpPr>
          <p:cNvPr id="17" name="TextBox 17"/>
          <p:cNvSpPr txBox="1"/>
          <p:nvPr/>
        </p:nvSpPr>
        <p:spPr>
          <a:xfrm>
            <a:off x="2398012" y="7258520"/>
            <a:ext cx="5501870" cy="1269690"/>
          </a:xfrm>
          <a:prstGeom prst="rect">
            <a:avLst/>
          </a:prstGeom>
        </p:spPr>
        <p:txBody>
          <a:bodyPr lIns="0" tIns="0" rIns="0" bIns="0" rtlCol="0" anchor="t">
            <a:spAutoFit/>
          </a:bodyPr>
          <a:lstStyle/>
          <a:p>
            <a:pPr algn="ctr">
              <a:lnSpc>
                <a:spcPts val="6690"/>
              </a:lnSpc>
              <a:spcBef>
                <a:spcPct val="0"/>
              </a:spcBef>
            </a:pPr>
            <a:r>
              <a:rPr lang="en-US" sz="4779" b="1" dirty="0" err="1">
                <a:solidFill>
                  <a:srgbClr val="262262"/>
                </a:solidFill>
                <a:latin typeface="モトヤゴシック w Bold"/>
                <a:ea typeface="モトヤゴシック w Bold"/>
                <a:cs typeface="モトヤゴシック w Bold"/>
                <a:sym typeface="モトヤゴシック w Bold"/>
              </a:rPr>
              <a:t>AIが被害状況を分析</a:t>
            </a:r>
            <a:endParaRPr lang="en-US" sz="4779" b="1" dirty="0">
              <a:solidFill>
                <a:srgbClr val="262262"/>
              </a:solidFill>
              <a:latin typeface="モトヤゴシック w Bold"/>
              <a:ea typeface="モトヤゴシック w Bold"/>
              <a:cs typeface="モトヤゴシック w Bold"/>
              <a:sym typeface="モトヤゴシック w Bold"/>
            </a:endParaRPr>
          </a:p>
        </p:txBody>
      </p:sp>
      <p:sp>
        <p:nvSpPr>
          <p:cNvPr id="19" name="TextBox 19"/>
          <p:cNvSpPr txBox="1"/>
          <p:nvPr/>
        </p:nvSpPr>
        <p:spPr>
          <a:xfrm>
            <a:off x="10801399" y="3231151"/>
            <a:ext cx="3326915" cy="1239732"/>
          </a:xfrm>
          <a:prstGeom prst="rect">
            <a:avLst/>
          </a:prstGeom>
        </p:spPr>
        <p:txBody>
          <a:bodyPr lIns="0" tIns="0" rIns="0" bIns="0" rtlCol="0" anchor="t">
            <a:spAutoFit/>
          </a:bodyPr>
          <a:lstStyle/>
          <a:p>
            <a:pPr algn="ctr">
              <a:lnSpc>
                <a:spcPts val="7335"/>
              </a:lnSpc>
              <a:spcBef>
                <a:spcPct val="0"/>
              </a:spcBef>
            </a:pPr>
            <a:r>
              <a:rPr lang="en-US" sz="5239" b="1" dirty="0">
                <a:solidFill>
                  <a:srgbClr val="262262"/>
                </a:solidFill>
                <a:latin typeface="モトヤゴシック w Bold"/>
                <a:ea typeface="モトヤゴシック w Bold"/>
                <a:cs typeface="モトヤゴシック w Bold"/>
                <a:sym typeface="モトヤゴシック w Bold"/>
              </a:rPr>
              <a:t>・</a:t>
            </a:r>
            <a:r>
              <a:rPr lang="en-US" sz="5239" b="1" dirty="0" err="1">
                <a:solidFill>
                  <a:srgbClr val="262262"/>
                </a:solidFill>
                <a:latin typeface="モトヤゴシック w Bold"/>
                <a:ea typeface="モトヤゴシック w Bold"/>
                <a:cs typeface="モトヤゴシック w Bold"/>
                <a:sym typeface="モトヤゴシック w Bold"/>
              </a:rPr>
              <a:t>分析結果</a:t>
            </a:r>
            <a:endParaRPr lang="en-US" sz="5239" b="1" dirty="0">
              <a:solidFill>
                <a:srgbClr val="262262"/>
              </a:solidFill>
              <a:latin typeface="モトヤゴシック w Bold"/>
              <a:ea typeface="モトヤゴシック w Bold"/>
              <a:cs typeface="モトヤゴシック w Bold"/>
              <a:sym typeface="モトヤゴシック w Bold"/>
            </a:endParaRPr>
          </a:p>
        </p:txBody>
      </p:sp>
      <p:sp>
        <p:nvSpPr>
          <p:cNvPr id="20" name="TextBox 20"/>
          <p:cNvSpPr txBox="1"/>
          <p:nvPr/>
        </p:nvSpPr>
        <p:spPr>
          <a:xfrm>
            <a:off x="10801399" y="5486495"/>
            <a:ext cx="4012407" cy="1249764"/>
          </a:xfrm>
          <a:prstGeom prst="rect">
            <a:avLst/>
          </a:prstGeom>
        </p:spPr>
        <p:txBody>
          <a:bodyPr lIns="0" tIns="0" rIns="0" bIns="0" rtlCol="0" anchor="t">
            <a:spAutoFit/>
          </a:bodyPr>
          <a:lstStyle/>
          <a:p>
            <a:pPr algn="ctr">
              <a:lnSpc>
                <a:spcPts val="7371"/>
              </a:lnSpc>
              <a:spcBef>
                <a:spcPct val="0"/>
              </a:spcBef>
            </a:pPr>
            <a:r>
              <a:rPr lang="en-US" sz="5265" b="1" dirty="0">
                <a:solidFill>
                  <a:srgbClr val="262262"/>
                </a:solidFill>
                <a:latin typeface="モトヤゴシック w Bold"/>
                <a:ea typeface="モトヤゴシック w Bold"/>
                <a:cs typeface="モトヤゴシック w Bold"/>
                <a:sym typeface="モトヤゴシック w Bold"/>
              </a:rPr>
              <a:t>・</a:t>
            </a:r>
            <a:r>
              <a:rPr lang="en-US" sz="5265" b="1" dirty="0" err="1">
                <a:solidFill>
                  <a:srgbClr val="262262"/>
                </a:solidFill>
                <a:latin typeface="モトヤゴシック w Bold"/>
                <a:ea typeface="モトヤゴシック w Bold"/>
                <a:cs typeface="モトヤゴシック w Bold"/>
                <a:sym typeface="モトヤゴシック w Bold"/>
              </a:rPr>
              <a:t>必要な対応</a:t>
            </a:r>
            <a:endParaRPr lang="en-US" sz="5265" b="1" dirty="0">
              <a:solidFill>
                <a:srgbClr val="262262"/>
              </a:solidFill>
              <a:latin typeface="モトヤゴシック w Bold"/>
              <a:ea typeface="モトヤゴシック w Bold"/>
              <a:cs typeface="モトヤゴシック w Bold"/>
              <a:sym typeface="モトヤゴシック w Bold"/>
            </a:endParaRPr>
          </a:p>
        </p:txBody>
      </p:sp>
      <p:sp>
        <p:nvSpPr>
          <p:cNvPr id="21" name="TextBox 21"/>
          <p:cNvSpPr txBox="1"/>
          <p:nvPr/>
        </p:nvSpPr>
        <p:spPr>
          <a:xfrm>
            <a:off x="10801399" y="7893365"/>
            <a:ext cx="6192311" cy="821250"/>
          </a:xfrm>
          <a:prstGeom prst="rect">
            <a:avLst/>
          </a:prstGeom>
        </p:spPr>
        <p:txBody>
          <a:bodyPr wrap="square" lIns="0" tIns="0" rIns="0" bIns="0" rtlCol="0" anchor="t">
            <a:spAutoFit/>
          </a:bodyPr>
          <a:lstStyle/>
          <a:p>
            <a:pPr algn="ctr">
              <a:lnSpc>
                <a:spcPts val="7348"/>
              </a:lnSpc>
              <a:spcBef>
                <a:spcPct val="0"/>
              </a:spcBef>
            </a:pPr>
            <a:r>
              <a:rPr lang="en-US" sz="5249" b="1" dirty="0">
                <a:solidFill>
                  <a:srgbClr val="262262"/>
                </a:solidFill>
                <a:latin typeface="モトヤゴシック w Bold"/>
                <a:ea typeface="モトヤゴシック w Bold"/>
                <a:cs typeface="モトヤゴシック w Bold"/>
                <a:sym typeface="モトヤゴシック w Bold"/>
              </a:rPr>
              <a:t>・</a:t>
            </a:r>
            <a:r>
              <a:rPr lang="en-US" sz="5249" b="1" dirty="0" err="1">
                <a:solidFill>
                  <a:srgbClr val="262262"/>
                </a:solidFill>
                <a:latin typeface="モトヤゴシック w Bold"/>
                <a:ea typeface="モトヤゴシック w Bold"/>
                <a:cs typeface="モトヤゴシック w Bold"/>
                <a:sym typeface="モトヤゴシック w Bold"/>
              </a:rPr>
              <a:t>過去の結果の履歴</a:t>
            </a:r>
            <a:endParaRPr lang="en-US" sz="5249" b="1" dirty="0">
              <a:solidFill>
                <a:srgbClr val="262262"/>
              </a:solidFill>
              <a:latin typeface="モトヤゴシック w Bold"/>
              <a:ea typeface="モトヤゴシック w Bold"/>
              <a:cs typeface="モトヤゴシック w Bold"/>
              <a:sym typeface="モトヤゴシック w Bo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500" fill="hold"/>
                                        <p:tgtEl>
                                          <p:spTgt spid="17"/>
                                        </p:tgtEl>
                                        <p:attrNameLst>
                                          <p:attrName>ppt_x</p:attrName>
                                        </p:attrNameLst>
                                      </p:cBhvr>
                                      <p:tavLst>
                                        <p:tav tm="0">
                                          <p:val>
                                            <p:strVal val="#ppt_x"/>
                                          </p:val>
                                        </p:tav>
                                        <p:tav tm="100000">
                                          <p:val>
                                            <p:strVal val="#ppt_x"/>
                                          </p:val>
                                        </p:tav>
                                      </p:tavLst>
                                    </p:anim>
                                    <p:anim calcmode="lin" valueType="num">
                                      <p:cBhvr additive="base">
                                        <p:cTn id="22" dur="500" fill="hold"/>
                                        <p:tgtEl>
                                          <p:spTgt spid="17"/>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ppt_x"/>
                                          </p:val>
                                        </p:tav>
                                        <p:tav tm="100000">
                                          <p:val>
                                            <p:strVal val="#ppt_x"/>
                                          </p:val>
                                        </p:tav>
                                      </p:tavLst>
                                    </p:anim>
                                    <p:anim calcmode="lin" valueType="num">
                                      <p:cBhvr additive="base">
                                        <p:cTn id="32" dur="500" fill="hold"/>
                                        <p:tgtEl>
                                          <p:spTgt spid="1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ppt_x"/>
                                          </p:val>
                                        </p:tav>
                                        <p:tav tm="100000">
                                          <p:val>
                                            <p:strVal val="#ppt_x"/>
                                          </p:val>
                                        </p:tav>
                                      </p:tavLst>
                                    </p:anim>
                                    <p:anim calcmode="lin" valueType="num">
                                      <p:cBhvr additive="base">
                                        <p:cTn id="36" dur="500" fill="hold"/>
                                        <p:tgtEl>
                                          <p:spTgt spid="13"/>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500" fill="hold"/>
                                        <p:tgtEl>
                                          <p:spTgt spid="20"/>
                                        </p:tgtEl>
                                        <p:attrNameLst>
                                          <p:attrName>ppt_x</p:attrName>
                                        </p:attrNameLst>
                                      </p:cBhvr>
                                      <p:tavLst>
                                        <p:tav tm="0">
                                          <p:val>
                                            <p:strVal val="#ppt_x"/>
                                          </p:val>
                                        </p:tav>
                                        <p:tav tm="100000">
                                          <p:val>
                                            <p:strVal val="#ppt_x"/>
                                          </p:val>
                                        </p:tav>
                                      </p:tavLst>
                                    </p:anim>
                                    <p:anim calcmode="lin" valueType="num">
                                      <p:cBhvr additive="base">
                                        <p:cTn id="4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anim calcmode="lin" valueType="num">
                                      <p:cBhvr additive="base">
                                        <p:cTn id="45" dur="500" fill="hold"/>
                                        <p:tgtEl>
                                          <p:spTgt spid="21"/>
                                        </p:tgtEl>
                                        <p:attrNameLst>
                                          <p:attrName>ppt_x</p:attrName>
                                        </p:attrNameLst>
                                      </p:cBhvr>
                                      <p:tavLst>
                                        <p:tav tm="0">
                                          <p:val>
                                            <p:strVal val="#ppt_x"/>
                                          </p:val>
                                        </p:tav>
                                        <p:tav tm="100000">
                                          <p:val>
                                            <p:strVal val="#ppt_x"/>
                                          </p:val>
                                        </p:tav>
                                      </p:tavLst>
                                    </p:anim>
                                    <p:anim calcmode="lin" valueType="num">
                                      <p:cBhvr additive="base">
                                        <p:cTn id="4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6" grpId="0"/>
      <p:bldP spid="17" grpId="0"/>
      <p:bldP spid="19" grpId="0"/>
      <p:bldP spid="20" grpId="0"/>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619250"/>
            <a:chOff x="0" y="0"/>
            <a:chExt cx="4816593" cy="426469"/>
          </a:xfrm>
        </p:grpSpPr>
        <p:sp>
          <p:nvSpPr>
            <p:cNvPr id="3" name="Freeform 3"/>
            <p:cNvSpPr/>
            <p:nvPr/>
          </p:nvSpPr>
          <p:spPr>
            <a:xfrm>
              <a:off x="0" y="0"/>
              <a:ext cx="4816592" cy="426469"/>
            </a:xfrm>
            <a:custGeom>
              <a:avLst/>
              <a:gdLst/>
              <a:ahLst/>
              <a:cxnLst/>
              <a:rect l="l" t="t" r="r" b="b"/>
              <a:pathLst>
                <a:path w="4816592" h="426469">
                  <a:moveTo>
                    <a:pt x="0" y="0"/>
                  </a:moveTo>
                  <a:lnTo>
                    <a:pt x="4816592" y="0"/>
                  </a:lnTo>
                  <a:lnTo>
                    <a:pt x="4816592" y="426469"/>
                  </a:lnTo>
                  <a:lnTo>
                    <a:pt x="0" y="426469"/>
                  </a:lnTo>
                  <a:close/>
                </a:path>
              </a:pathLst>
            </a:custGeom>
            <a:solidFill>
              <a:srgbClr val="262262"/>
            </a:solidFill>
          </p:spPr>
          <p:txBody>
            <a:bodyPr/>
            <a:lstStyle/>
            <a:p>
              <a:endParaRPr lang="ja-JP" altLang="en-US"/>
            </a:p>
          </p:txBody>
        </p:sp>
        <p:sp>
          <p:nvSpPr>
            <p:cNvPr id="4" name="TextBox 4"/>
            <p:cNvSpPr txBox="1"/>
            <p:nvPr/>
          </p:nvSpPr>
          <p:spPr>
            <a:xfrm>
              <a:off x="0" y="-285750"/>
              <a:ext cx="4816593" cy="712219"/>
            </a:xfrm>
            <a:prstGeom prst="rect">
              <a:avLst/>
            </a:prstGeom>
          </p:spPr>
          <p:txBody>
            <a:bodyPr lIns="50800" tIns="50800" rIns="50800" bIns="50800" rtlCol="0" anchor="ctr"/>
            <a:lstStyle/>
            <a:p>
              <a:pPr algn="ctr">
                <a:lnSpc>
                  <a:spcPts val="3456"/>
                </a:lnSpc>
              </a:pPr>
              <a:endParaRPr/>
            </a:p>
          </p:txBody>
        </p:sp>
      </p:grpSp>
      <p:sp>
        <p:nvSpPr>
          <p:cNvPr id="5" name="TextBox 5"/>
          <p:cNvSpPr txBox="1"/>
          <p:nvPr/>
        </p:nvSpPr>
        <p:spPr>
          <a:xfrm>
            <a:off x="2827638" y="277368"/>
            <a:ext cx="14476116" cy="1457325"/>
          </a:xfrm>
          <a:prstGeom prst="rect">
            <a:avLst/>
          </a:prstGeom>
        </p:spPr>
        <p:txBody>
          <a:bodyPr lIns="0" tIns="0" rIns="0" bIns="0" rtlCol="0" anchor="t">
            <a:spAutoFit/>
          </a:bodyPr>
          <a:lstStyle/>
          <a:p>
            <a:pPr algn="l">
              <a:lnSpc>
                <a:spcPts val="6900"/>
              </a:lnSpc>
            </a:pPr>
            <a:r>
              <a:rPr lang="en-US" sz="6000" spc="600" dirty="0" err="1">
                <a:solidFill>
                  <a:srgbClr val="FFFFFF"/>
                </a:solidFill>
                <a:latin typeface="モトヤゴシック w"/>
                <a:ea typeface="モトヤゴシック w"/>
                <a:cs typeface="モトヤゴシック w"/>
                <a:sym typeface="モトヤゴシック w"/>
              </a:rPr>
              <a:t>利用イメージ</a:t>
            </a:r>
            <a:endParaRPr lang="en-US" sz="6000" spc="600" dirty="0">
              <a:solidFill>
                <a:srgbClr val="FFFFFF"/>
              </a:solidFill>
              <a:latin typeface="モトヤゴシック w"/>
              <a:ea typeface="モトヤゴシック w"/>
              <a:cs typeface="モトヤゴシック w"/>
              <a:sym typeface="モトヤゴシック w"/>
            </a:endParaRPr>
          </a:p>
        </p:txBody>
      </p:sp>
      <p:grpSp>
        <p:nvGrpSpPr>
          <p:cNvPr id="6" name="Group 6"/>
          <p:cNvGrpSpPr/>
          <p:nvPr/>
        </p:nvGrpSpPr>
        <p:grpSpPr>
          <a:xfrm>
            <a:off x="-769371" y="0"/>
            <a:ext cx="3167383" cy="1619250"/>
            <a:chOff x="0" y="0"/>
            <a:chExt cx="979343" cy="500666"/>
          </a:xfrm>
        </p:grpSpPr>
        <p:sp>
          <p:nvSpPr>
            <p:cNvPr id="7" name="Freeform 7"/>
            <p:cNvSpPr/>
            <p:nvPr/>
          </p:nvSpPr>
          <p:spPr>
            <a:xfrm>
              <a:off x="0" y="0"/>
              <a:ext cx="979343" cy="500666"/>
            </a:xfrm>
            <a:custGeom>
              <a:avLst/>
              <a:gdLst/>
              <a:ahLst/>
              <a:cxnLst/>
              <a:rect l="l" t="t" r="r" b="b"/>
              <a:pathLst>
                <a:path w="979343" h="500666">
                  <a:moveTo>
                    <a:pt x="203200" y="0"/>
                  </a:moveTo>
                  <a:lnTo>
                    <a:pt x="979343" y="0"/>
                  </a:lnTo>
                  <a:lnTo>
                    <a:pt x="776143" y="500666"/>
                  </a:lnTo>
                  <a:lnTo>
                    <a:pt x="0" y="500666"/>
                  </a:lnTo>
                  <a:lnTo>
                    <a:pt x="203200" y="0"/>
                  </a:lnTo>
                  <a:close/>
                </a:path>
              </a:pathLst>
            </a:custGeom>
            <a:solidFill>
              <a:srgbClr val="1B75BC"/>
            </a:solidFill>
          </p:spPr>
          <p:txBody>
            <a:bodyPr/>
            <a:lstStyle/>
            <a:p>
              <a:endParaRPr lang="ja-JP" altLang="en-US"/>
            </a:p>
          </p:txBody>
        </p:sp>
        <p:sp>
          <p:nvSpPr>
            <p:cNvPr id="8" name="TextBox 8"/>
            <p:cNvSpPr txBox="1"/>
            <p:nvPr/>
          </p:nvSpPr>
          <p:spPr>
            <a:xfrm>
              <a:off x="101600" y="-285750"/>
              <a:ext cx="776143" cy="786416"/>
            </a:xfrm>
            <a:prstGeom prst="rect">
              <a:avLst/>
            </a:prstGeom>
          </p:spPr>
          <p:txBody>
            <a:bodyPr lIns="50800" tIns="50800" rIns="50800" bIns="50800" rtlCol="0" anchor="ctr"/>
            <a:lstStyle/>
            <a:p>
              <a:pPr algn="ctr">
                <a:lnSpc>
                  <a:spcPts val="3456"/>
                </a:lnSpc>
              </a:pPr>
              <a:endParaRPr/>
            </a:p>
          </p:txBody>
        </p:sp>
      </p:grpSp>
      <p:sp>
        <p:nvSpPr>
          <p:cNvPr id="9" name="TextBox 9"/>
          <p:cNvSpPr txBox="1"/>
          <p:nvPr/>
        </p:nvSpPr>
        <p:spPr>
          <a:xfrm>
            <a:off x="-254752" y="322712"/>
            <a:ext cx="2138144" cy="884858"/>
          </a:xfrm>
          <a:prstGeom prst="rect">
            <a:avLst/>
          </a:prstGeom>
        </p:spPr>
        <p:txBody>
          <a:bodyPr lIns="0" tIns="0" rIns="0" bIns="0" rtlCol="0" anchor="t">
            <a:spAutoFit/>
          </a:bodyPr>
          <a:lstStyle/>
          <a:p>
            <a:pPr algn="ctr">
              <a:lnSpc>
                <a:spcPts val="6900"/>
              </a:lnSpc>
            </a:pPr>
            <a:r>
              <a:rPr lang="en-US" sz="6000" b="1" spc="600" dirty="0">
                <a:solidFill>
                  <a:srgbClr val="FFFFFF"/>
                </a:solidFill>
                <a:latin typeface="モトヤゴシック w Semi-Bold"/>
                <a:ea typeface="モトヤゴシック w Semi-Bold"/>
                <a:cs typeface="モトヤゴシック w Semi-Bold"/>
                <a:sym typeface="モトヤゴシック w Semi-Bold"/>
              </a:rPr>
              <a:t>04</a:t>
            </a:r>
          </a:p>
        </p:txBody>
      </p:sp>
      <p:sp>
        <p:nvSpPr>
          <p:cNvPr id="10" name="TextBox 10"/>
          <p:cNvSpPr txBox="1"/>
          <p:nvPr/>
        </p:nvSpPr>
        <p:spPr>
          <a:xfrm>
            <a:off x="3657600" y="5048250"/>
            <a:ext cx="10769153" cy="887095"/>
          </a:xfrm>
          <a:prstGeom prst="rect">
            <a:avLst/>
          </a:prstGeom>
        </p:spPr>
        <p:txBody>
          <a:bodyPr wrap="square" lIns="0" tIns="0" rIns="0" bIns="0" rtlCol="0" anchor="t">
            <a:spAutoFit/>
          </a:bodyPr>
          <a:lstStyle/>
          <a:p>
            <a:pPr algn="ctr">
              <a:lnSpc>
                <a:spcPts val="7279"/>
              </a:lnSpc>
            </a:pPr>
            <a:r>
              <a:rPr lang="en-US" sz="5199" b="1" dirty="0" err="1">
                <a:solidFill>
                  <a:srgbClr val="262262"/>
                </a:solidFill>
                <a:latin typeface="Source Han Sans JP Bold"/>
                <a:ea typeface="Source Han Sans JP Bold"/>
                <a:cs typeface="Source Han Sans JP Bold"/>
                <a:sym typeface="Source Han Sans JP Bold"/>
              </a:rPr>
              <a:t>画面イメージを実際にお見せします</a:t>
            </a:r>
            <a:endParaRPr lang="en-US" sz="5199" b="1" dirty="0">
              <a:solidFill>
                <a:srgbClr val="262262"/>
              </a:solidFill>
              <a:latin typeface="Source Han Sans JP Bold"/>
              <a:ea typeface="Source Han Sans JP Bold"/>
              <a:cs typeface="Source Han Sans JP Bold"/>
              <a:sym typeface="Source Han Sans JP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619250"/>
            <a:chOff x="0" y="0"/>
            <a:chExt cx="4816593" cy="426469"/>
          </a:xfrm>
        </p:grpSpPr>
        <p:sp>
          <p:nvSpPr>
            <p:cNvPr id="3" name="Freeform 3"/>
            <p:cNvSpPr/>
            <p:nvPr/>
          </p:nvSpPr>
          <p:spPr>
            <a:xfrm>
              <a:off x="0" y="0"/>
              <a:ext cx="4816592" cy="426469"/>
            </a:xfrm>
            <a:custGeom>
              <a:avLst/>
              <a:gdLst/>
              <a:ahLst/>
              <a:cxnLst/>
              <a:rect l="l" t="t" r="r" b="b"/>
              <a:pathLst>
                <a:path w="4816592" h="426469">
                  <a:moveTo>
                    <a:pt x="0" y="0"/>
                  </a:moveTo>
                  <a:lnTo>
                    <a:pt x="4816592" y="0"/>
                  </a:lnTo>
                  <a:lnTo>
                    <a:pt x="4816592" y="426469"/>
                  </a:lnTo>
                  <a:lnTo>
                    <a:pt x="0" y="426469"/>
                  </a:lnTo>
                  <a:close/>
                </a:path>
              </a:pathLst>
            </a:custGeom>
            <a:solidFill>
              <a:srgbClr val="262262"/>
            </a:solidFill>
          </p:spPr>
          <p:txBody>
            <a:bodyPr/>
            <a:lstStyle/>
            <a:p>
              <a:endParaRPr lang="ja-JP" altLang="en-US"/>
            </a:p>
          </p:txBody>
        </p:sp>
        <p:sp>
          <p:nvSpPr>
            <p:cNvPr id="4" name="TextBox 4"/>
            <p:cNvSpPr txBox="1"/>
            <p:nvPr/>
          </p:nvSpPr>
          <p:spPr>
            <a:xfrm>
              <a:off x="0" y="-285750"/>
              <a:ext cx="4816593" cy="712219"/>
            </a:xfrm>
            <a:prstGeom prst="rect">
              <a:avLst/>
            </a:prstGeom>
          </p:spPr>
          <p:txBody>
            <a:bodyPr lIns="50800" tIns="50800" rIns="50800" bIns="50800" rtlCol="0" anchor="ctr"/>
            <a:lstStyle/>
            <a:p>
              <a:pPr algn="ctr">
                <a:lnSpc>
                  <a:spcPts val="3456"/>
                </a:lnSpc>
              </a:pPr>
              <a:endParaRPr/>
            </a:p>
          </p:txBody>
        </p:sp>
      </p:grpSp>
      <p:grpSp>
        <p:nvGrpSpPr>
          <p:cNvPr id="5" name="Group 5"/>
          <p:cNvGrpSpPr/>
          <p:nvPr/>
        </p:nvGrpSpPr>
        <p:grpSpPr>
          <a:xfrm>
            <a:off x="-769371" y="0"/>
            <a:ext cx="3167383" cy="1619250"/>
            <a:chOff x="0" y="0"/>
            <a:chExt cx="979343" cy="500666"/>
          </a:xfrm>
        </p:grpSpPr>
        <p:sp>
          <p:nvSpPr>
            <p:cNvPr id="6" name="Freeform 6"/>
            <p:cNvSpPr/>
            <p:nvPr/>
          </p:nvSpPr>
          <p:spPr>
            <a:xfrm>
              <a:off x="0" y="0"/>
              <a:ext cx="979343" cy="500666"/>
            </a:xfrm>
            <a:custGeom>
              <a:avLst/>
              <a:gdLst/>
              <a:ahLst/>
              <a:cxnLst/>
              <a:rect l="l" t="t" r="r" b="b"/>
              <a:pathLst>
                <a:path w="979343" h="500666">
                  <a:moveTo>
                    <a:pt x="203200" y="0"/>
                  </a:moveTo>
                  <a:lnTo>
                    <a:pt x="979343" y="0"/>
                  </a:lnTo>
                  <a:lnTo>
                    <a:pt x="776143" y="500666"/>
                  </a:lnTo>
                  <a:lnTo>
                    <a:pt x="0" y="500666"/>
                  </a:lnTo>
                  <a:lnTo>
                    <a:pt x="203200" y="0"/>
                  </a:lnTo>
                  <a:close/>
                </a:path>
              </a:pathLst>
            </a:custGeom>
            <a:solidFill>
              <a:srgbClr val="1B75BC"/>
            </a:solidFill>
          </p:spPr>
          <p:txBody>
            <a:bodyPr/>
            <a:lstStyle/>
            <a:p>
              <a:endParaRPr lang="ja-JP" altLang="en-US"/>
            </a:p>
          </p:txBody>
        </p:sp>
        <p:sp>
          <p:nvSpPr>
            <p:cNvPr id="7" name="TextBox 7"/>
            <p:cNvSpPr txBox="1"/>
            <p:nvPr/>
          </p:nvSpPr>
          <p:spPr>
            <a:xfrm>
              <a:off x="101600" y="-285750"/>
              <a:ext cx="776143" cy="786416"/>
            </a:xfrm>
            <a:prstGeom prst="rect">
              <a:avLst/>
            </a:prstGeom>
          </p:spPr>
          <p:txBody>
            <a:bodyPr lIns="50800" tIns="50800" rIns="50800" bIns="50800" rtlCol="0" anchor="ctr"/>
            <a:lstStyle/>
            <a:p>
              <a:pPr algn="ctr">
                <a:lnSpc>
                  <a:spcPts val="3456"/>
                </a:lnSpc>
              </a:pPr>
              <a:endParaRPr/>
            </a:p>
          </p:txBody>
        </p:sp>
      </p:grpSp>
      <p:sp>
        <p:nvSpPr>
          <p:cNvPr id="8" name="AutoShape 8"/>
          <p:cNvSpPr/>
          <p:nvPr/>
        </p:nvSpPr>
        <p:spPr>
          <a:xfrm flipV="1">
            <a:off x="2083225" y="4893359"/>
            <a:ext cx="14340730" cy="0"/>
          </a:xfrm>
          <a:prstGeom prst="line">
            <a:avLst/>
          </a:prstGeom>
          <a:ln w="38100" cap="flat">
            <a:solidFill>
              <a:srgbClr val="262262"/>
            </a:solidFill>
            <a:prstDash val="solid"/>
            <a:headEnd type="none" w="sm" len="sm"/>
            <a:tailEnd type="none" w="sm" len="sm"/>
          </a:ln>
        </p:spPr>
        <p:txBody>
          <a:bodyPr/>
          <a:lstStyle/>
          <a:p>
            <a:endParaRPr lang="ja-JP" altLang="en-US"/>
          </a:p>
        </p:txBody>
      </p:sp>
      <p:sp>
        <p:nvSpPr>
          <p:cNvPr id="9" name="Freeform 9"/>
          <p:cNvSpPr/>
          <p:nvPr/>
        </p:nvSpPr>
        <p:spPr>
          <a:xfrm>
            <a:off x="14064343" y="5792286"/>
            <a:ext cx="1888978" cy="3466014"/>
          </a:xfrm>
          <a:custGeom>
            <a:avLst/>
            <a:gdLst/>
            <a:ahLst/>
            <a:cxnLst/>
            <a:rect l="l" t="t" r="r" b="b"/>
            <a:pathLst>
              <a:path w="1888978" h="3466014">
                <a:moveTo>
                  <a:pt x="0" y="0"/>
                </a:moveTo>
                <a:lnTo>
                  <a:pt x="1888978" y="0"/>
                </a:lnTo>
                <a:lnTo>
                  <a:pt x="1888978" y="3466014"/>
                </a:lnTo>
                <a:lnTo>
                  <a:pt x="0" y="3466014"/>
                </a:lnTo>
                <a:lnTo>
                  <a:pt x="0" y="0"/>
                </a:lnTo>
                <a:close/>
              </a:path>
            </a:pathLst>
          </a:custGeom>
          <a:blipFill>
            <a:blip r:embed="rId3"/>
            <a:stretch>
              <a:fillRect/>
            </a:stretch>
          </a:blipFill>
        </p:spPr>
        <p:txBody>
          <a:bodyPr/>
          <a:lstStyle/>
          <a:p>
            <a:endParaRPr lang="ja-JP" altLang="en-US"/>
          </a:p>
        </p:txBody>
      </p:sp>
      <p:sp>
        <p:nvSpPr>
          <p:cNvPr id="10" name="TextBox 10"/>
          <p:cNvSpPr txBox="1"/>
          <p:nvPr/>
        </p:nvSpPr>
        <p:spPr>
          <a:xfrm>
            <a:off x="2726606" y="235953"/>
            <a:ext cx="10006093" cy="1438124"/>
          </a:xfrm>
          <a:prstGeom prst="rect">
            <a:avLst/>
          </a:prstGeom>
        </p:spPr>
        <p:txBody>
          <a:bodyPr lIns="0" tIns="0" rIns="0" bIns="0" rtlCol="0" anchor="t">
            <a:spAutoFit/>
          </a:bodyPr>
          <a:lstStyle/>
          <a:p>
            <a:pPr algn="l">
              <a:lnSpc>
                <a:spcPts val="6872"/>
              </a:lnSpc>
            </a:pPr>
            <a:r>
              <a:rPr lang="en-US" sz="5976" b="1" spc="597" dirty="0" err="1">
                <a:solidFill>
                  <a:srgbClr val="FFFFFF"/>
                </a:solidFill>
                <a:latin typeface="モトヤゴシック w Semi-Bold"/>
                <a:ea typeface="モトヤゴシック w Semi-Bold"/>
                <a:cs typeface="モトヤゴシック w Semi-Bold"/>
                <a:sym typeface="モトヤゴシック w Semi-Bold"/>
              </a:rPr>
              <a:t>まとめ</a:t>
            </a:r>
            <a:endParaRPr lang="en-US" sz="5976" b="1" spc="597" dirty="0">
              <a:solidFill>
                <a:srgbClr val="FFFFFF"/>
              </a:solidFill>
              <a:latin typeface="モトヤゴシック w Semi-Bold"/>
              <a:ea typeface="モトヤゴシック w Semi-Bold"/>
              <a:cs typeface="モトヤゴシック w Semi-Bold"/>
              <a:sym typeface="モトヤゴシック w Semi-Bold"/>
            </a:endParaRPr>
          </a:p>
        </p:txBody>
      </p:sp>
      <p:sp>
        <p:nvSpPr>
          <p:cNvPr id="11" name="TextBox 11"/>
          <p:cNvSpPr txBox="1"/>
          <p:nvPr/>
        </p:nvSpPr>
        <p:spPr>
          <a:xfrm>
            <a:off x="-254752" y="208389"/>
            <a:ext cx="2138144" cy="884858"/>
          </a:xfrm>
          <a:prstGeom prst="rect">
            <a:avLst/>
          </a:prstGeom>
        </p:spPr>
        <p:txBody>
          <a:bodyPr lIns="0" tIns="0" rIns="0" bIns="0" rtlCol="0" anchor="t">
            <a:spAutoFit/>
          </a:bodyPr>
          <a:lstStyle/>
          <a:p>
            <a:pPr algn="ctr">
              <a:lnSpc>
                <a:spcPts val="6900"/>
              </a:lnSpc>
            </a:pPr>
            <a:r>
              <a:rPr lang="en-US" sz="6000" b="1" spc="600" dirty="0">
                <a:solidFill>
                  <a:srgbClr val="FFFFFF"/>
                </a:solidFill>
                <a:latin typeface="モトヤゴシック w Semi-Bold"/>
                <a:ea typeface="モトヤゴシック w Semi-Bold"/>
                <a:cs typeface="モトヤゴシック w Semi-Bold"/>
                <a:sym typeface="モトヤゴシック w Semi-Bold"/>
              </a:rPr>
              <a:t>05</a:t>
            </a:r>
          </a:p>
        </p:txBody>
      </p:sp>
      <p:sp>
        <p:nvSpPr>
          <p:cNvPr id="12" name="TextBox 12"/>
          <p:cNvSpPr txBox="1"/>
          <p:nvPr/>
        </p:nvSpPr>
        <p:spPr>
          <a:xfrm>
            <a:off x="1786699" y="2261490"/>
            <a:ext cx="9522183" cy="887095"/>
          </a:xfrm>
          <a:prstGeom prst="rect">
            <a:avLst/>
          </a:prstGeom>
        </p:spPr>
        <p:txBody>
          <a:bodyPr wrap="square" lIns="0" tIns="0" rIns="0" bIns="0" rtlCol="0" anchor="t">
            <a:spAutoFit/>
          </a:bodyPr>
          <a:lstStyle/>
          <a:p>
            <a:pPr algn="ctr">
              <a:lnSpc>
                <a:spcPts val="7279"/>
              </a:lnSpc>
            </a:pPr>
            <a:r>
              <a:rPr lang="en-US" sz="5199" b="1" dirty="0">
                <a:solidFill>
                  <a:srgbClr val="262262"/>
                </a:solidFill>
                <a:latin typeface="Source Han Sans JP Bold"/>
                <a:ea typeface="Source Han Sans JP Bold"/>
                <a:cs typeface="Source Han Sans JP Bold"/>
                <a:sym typeface="Source Han Sans JP Bold"/>
              </a:rPr>
              <a:t>・</a:t>
            </a:r>
            <a:r>
              <a:rPr lang="en-US" sz="5199" b="1" dirty="0" err="1">
                <a:solidFill>
                  <a:srgbClr val="262262"/>
                </a:solidFill>
                <a:latin typeface="Source Han Sans JP Bold"/>
                <a:ea typeface="Source Han Sans JP Bold"/>
                <a:cs typeface="Source Han Sans JP Bold"/>
                <a:sym typeface="Source Han Sans JP Bold"/>
              </a:rPr>
              <a:t>AIが写真から被害状況を分析</a:t>
            </a:r>
            <a:endParaRPr lang="en-US" sz="5199" b="1" dirty="0">
              <a:solidFill>
                <a:srgbClr val="262262"/>
              </a:solidFill>
              <a:latin typeface="Source Han Sans JP Bold"/>
              <a:ea typeface="Source Han Sans JP Bold"/>
              <a:cs typeface="Source Han Sans JP Bold"/>
              <a:sym typeface="Source Han Sans JP Bold"/>
            </a:endParaRPr>
          </a:p>
        </p:txBody>
      </p:sp>
      <p:sp>
        <p:nvSpPr>
          <p:cNvPr id="13" name="TextBox 13"/>
          <p:cNvSpPr txBox="1"/>
          <p:nvPr/>
        </p:nvSpPr>
        <p:spPr>
          <a:xfrm>
            <a:off x="2261393" y="2886012"/>
            <a:ext cx="9525" cy="887095"/>
          </a:xfrm>
          <a:prstGeom prst="rect">
            <a:avLst/>
          </a:prstGeom>
        </p:spPr>
        <p:txBody>
          <a:bodyPr lIns="0" tIns="0" rIns="0" bIns="0" rtlCol="0" anchor="t">
            <a:spAutoFit/>
          </a:bodyPr>
          <a:lstStyle/>
          <a:p>
            <a:pPr algn="ctr">
              <a:lnSpc>
                <a:spcPts val="7279"/>
              </a:lnSpc>
            </a:pPr>
            <a:endParaRPr/>
          </a:p>
        </p:txBody>
      </p:sp>
      <p:sp>
        <p:nvSpPr>
          <p:cNvPr id="14" name="TextBox 14"/>
          <p:cNvSpPr txBox="1"/>
          <p:nvPr/>
        </p:nvSpPr>
        <p:spPr>
          <a:xfrm>
            <a:off x="2261393" y="3677857"/>
            <a:ext cx="9525" cy="887095"/>
          </a:xfrm>
          <a:prstGeom prst="rect">
            <a:avLst/>
          </a:prstGeom>
        </p:spPr>
        <p:txBody>
          <a:bodyPr lIns="0" tIns="0" rIns="0" bIns="0" rtlCol="0" anchor="t">
            <a:spAutoFit/>
          </a:bodyPr>
          <a:lstStyle/>
          <a:p>
            <a:pPr algn="ctr">
              <a:lnSpc>
                <a:spcPts val="7279"/>
              </a:lnSpc>
            </a:pPr>
            <a:endParaRPr/>
          </a:p>
        </p:txBody>
      </p:sp>
      <p:sp>
        <p:nvSpPr>
          <p:cNvPr id="15" name="TextBox 15"/>
          <p:cNvSpPr txBox="1"/>
          <p:nvPr/>
        </p:nvSpPr>
        <p:spPr>
          <a:xfrm>
            <a:off x="-609600" y="3381742"/>
            <a:ext cx="11756754" cy="887095"/>
          </a:xfrm>
          <a:prstGeom prst="rect">
            <a:avLst/>
          </a:prstGeom>
        </p:spPr>
        <p:txBody>
          <a:bodyPr wrap="square" lIns="0" tIns="0" rIns="0" bIns="0" rtlCol="0" anchor="t">
            <a:spAutoFit/>
          </a:bodyPr>
          <a:lstStyle/>
          <a:p>
            <a:pPr algn="ctr">
              <a:lnSpc>
                <a:spcPts val="7279"/>
              </a:lnSpc>
            </a:pPr>
            <a:r>
              <a:rPr lang="en-US" sz="5199" b="1" dirty="0">
                <a:solidFill>
                  <a:srgbClr val="262262"/>
                </a:solidFill>
                <a:latin typeface="Source Han Sans JP Bold"/>
                <a:ea typeface="Source Han Sans JP Bold"/>
                <a:cs typeface="Source Han Sans JP Bold"/>
                <a:sym typeface="Source Han Sans JP Bold"/>
              </a:rPr>
              <a:t>・</a:t>
            </a:r>
            <a:r>
              <a:rPr lang="en-US" sz="5199" b="1" dirty="0" err="1">
                <a:solidFill>
                  <a:srgbClr val="262262"/>
                </a:solidFill>
                <a:latin typeface="Source Han Sans JP Bold"/>
                <a:ea typeface="Source Han Sans JP Bold"/>
                <a:cs typeface="Source Han Sans JP Bold"/>
                <a:sym typeface="Source Han Sans JP Bold"/>
              </a:rPr>
              <a:t>必要な対応が分かる</a:t>
            </a:r>
            <a:endParaRPr lang="en-US" sz="5199" b="1" dirty="0">
              <a:solidFill>
                <a:srgbClr val="262262"/>
              </a:solidFill>
              <a:latin typeface="Source Han Sans JP Bold"/>
              <a:ea typeface="Source Han Sans JP Bold"/>
              <a:cs typeface="Source Han Sans JP Bold"/>
              <a:sym typeface="Source Han Sans JP Bold"/>
            </a:endParaRPr>
          </a:p>
        </p:txBody>
      </p:sp>
      <p:sp>
        <p:nvSpPr>
          <p:cNvPr id="16" name="TextBox 16"/>
          <p:cNvSpPr txBox="1"/>
          <p:nvPr/>
        </p:nvSpPr>
        <p:spPr>
          <a:xfrm>
            <a:off x="1935955" y="5048250"/>
            <a:ext cx="2843591" cy="887095"/>
          </a:xfrm>
          <a:prstGeom prst="rect">
            <a:avLst/>
          </a:prstGeom>
        </p:spPr>
        <p:txBody>
          <a:bodyPr wrap="square" lIns="0" tIns="0" rIns="0" bIns="0" rtlCol="0" anchor="t">
            <a:spAutoFit/>
          </a:bodyPr>
          <a:lstStyle/>
          <a:p>
            <a:pPr algn="ctr">
              <a:lnSpc>
                <a:spcPts val="7279"/>
              </a:lnSpc>
            </a:pPr>
            <a:r>
              <a:rPr lang="en-US" sz="5199" b="1" dirty="0" err="1">
                <a:solidFill>
                  <a:srgbClr val="262262"/>
                </a:solidFill>
                <a:latin typeface="Source Han Sans JP Bold"/>
                <a:ea typeface="Source Han Sans JP Bold"/>
                <a:cs typeface="Source Han Sans JP Bold"/>
                <a:sym typeface="Source Han Sans JP Bold"/>
              </a:rPr>
              <a:t>留意事項</a:t>
            </a:r>
            <a:endParaRPr lang="en-US" sz="5199" b="1" dirty="0">
              <a:solidFill>
                <a:srgbClr val="262262"/>
              </a:solidFill>
              <a:latin typeface="Source Han Sans JP Bold"/>
              <a:ea typeface="Source Han Sans JP Bold"/>
              <a:cs typeface="Source Han Sans JP Bold"/>
              <a:sym typeface="Source Han Sans JP Bold"/>
            </a:endParaRPr>
          </a:p>
        </p:txBody>
      </p:sp>
      <p:sp>
        <p:nvSpPr>
          <p:cNvPr id="17" name="TextBox 17"/>
          <p:cNvSpPr txBox="1"/>
          <p:nvPr/>
        </p:nvSpPr>
        <p:spPr>
          <a:xfrm>
            <a:off x="1935955" y="6144895"/>
            <a:ext cx="10239557" cy="887095"/>
          </a:xfrm>
          <a:prstGeom prst="rect">
            <a:avLst/>
          </a:prstGeom>
        </p:spPr>
        <p:txBody>
          <a:bodyPr lIns="0" tIns="0" rIns="0" bIns="0" rtlCol="0" anchor="t">
            <a:spAutoFit/>
          </a:bodyPr>
          <a:lstStyle/>
          <a:p>
            <a:pPr algn="ctr">
              <a:lnSpc>
                <a:spcPts val="7279"/>
              </a:lnSpc>
            </a:pPr>
            <a:r>
              <a:rPr lang="en-US" sz="5199" b="1" dirty="0">
                <a:solidFill>
                  <a:srgbClr val="262262"/>
                </a:solidFill>
                <a:latin typeface="Source Han Sans JP Bold"/>
                <a:ea typeface="Source Han Sans JP Bold"/>
                <a:cs typeface="Source Han Sans JP Bold"/>
                <a:sym typeface="Source Han Sans JP Bold"/>
              </a:rPr>
              <a:t>・</a:t>
            </a:r>
            <a:r>
              <a:rPr lang="en-US" sz="5199" b="1" dirty="0" err="1">
                <a:solidFill>
                  <a:srgbClr val="262262"/>
                </a:solidFill>
                <a:latin typeface="Source Han Sans JP Bold"/>
                <a:ea typeface="Source Han Sans JP Bold"/>
                <a:cs typeface="Source Han Sans JP Bold"/>
                <a:sym typeface="Source Han Sans JP Bold"/>
              </a:rPr>
              <a:t>安全性を保障するものではない</a:t>
            </a:r>
            <a:endParaRPr lang="en-US" sz="5199" b="1" dirty="0">
              <a:solidFill>
                <a:srgbClr val="262262"/>
              </a:solidFill>
              <a:latin typeface="Source Han Sans JP Bold"/>
              <a:ea typeface="Source Han Sans JP Bold"/>
              <a:cs typeface="Source Han Sans JP Bold"/>
              <a:sym typeface="Source Han Sans JP Bold"/>
            </a:endParaRPr>
          </a:p>
        </p:txBody>
      </p:sp>
      <p:sp>
        <p:nvSpPr>
          <p:cNvPr id="18" name="TextBox 18"/>
          <p:cNvSpPr txBox="1"/>
          <p:nvPr/>
        </p:nvSpPr>
        <p:spPr>
          <a:xfrm>
            <a:off x="1786699" y="7165340"/>
            <a:ext cx="11212003" cy="887095"/>
          </a:xfrm>
          <a:prstGeom prst="rect">
            <a:avLst/>
          </a:prstGeom>
        </p:spPr>
        <p:txBody>
          <a:bodyPr lIns="0" tIns="0" rIns="0" bIns="0" rtlCol="0" anchor="t">
            <a:spAutoFit/>
          </a:bodyPr>
          <a:lstStyle/>
          <a:p>
            <a:pPr algn="ctr">
              <a:lnSpc>
                <a:spcPts val="7279"/>
              </a:lnSpc>
            </a:pPr>
            <a:r>
              <a:rPr lang="en-US" sz="5199" b="1">
                <a:solidFill>
                  <a:srgbClr val="262262"/>
                </a:solidFill>
                <a:latin typeface="Source Han Sans JP Bold"/>
                <a:ea typeface="Source Han Sans JP Bold"/>
                <a:cs typeface="Source Han Sans JP Bold"/>
                <a:sym typeface="Source Han Sans JP Bold"/>
              </a:rPr>
              <a:t>・対象は戸建て住宅と集合住宅のみ</a:t>
            </a:r>
          </a:p>
        </p:txBody>
      </p:sp>
      <p:sp>
        <p:nvSpPr>
          <p:cNvPr id="19" name="Freeform 19"/>
          <p:cNvSpPr/>
          <p:nvPr/>
        </p:nvSpPr>
        <p:spPr>
          <a:xfrm>
            <a:off x="15008832" y="1841759"/>
            <a:ext cx="2917308" cy="3070851"/>
          </a:xfrm>
          <a:custGeom>
            <a:avLst/>
            <a:gdLst/>
            <a:ahLst/>
            <a:cxnLst/>
            <a:rect l="l" t="t" r="r" b="b"/>
            <a:pathLst>
              <a:path w="2917308" h="3070851">
                <a:moveTo>
                  <a:pt x="0" y="0"/>
                </a:moveTo>
                <a:lnTo>
                  <a:pt x="2917309" y="0"/>
                </a:lnTo>
                <a:lnTo>
                  <a:pt x="2917309" y="3070851"/>
                </a:lnTo>
                <a:lnTo>
                  <a:pt x="0" y="3070851"/>
                </a:lnTo>
                <a:lnTo>
                  <a:pt x="0" y="0"/>
                </a:lnTo>
                <a:close/>
              </a:path>
            </a:pathLst>
          </a:custGeom>
          <a:blipFill>
            <a:blip r:embed="rId4"/>
            <a:stretch>
              <a:fillRect/>
            </a:stretch>
          </a:blipFill>
        </p:spPr>
        <p:txBody>
          <a:bodyPr/>
          <a:lstStyle/>
          <a:p>
            <a:endParaRPr lang="ja-JP"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ppt_x"/>
                                          </p:val>
                                        </p:tav>
                                        <p:tav tm="100000">
                                          <p:val>
                                            <p:strVal val="#ppt_x"/>
                                          </p:val>
                                        </p:tav>
                                      </p:tavLst>
                                    </p:anim>
                                    <p:anim calcmode="lin" valueType="num">
                                      <p:cBhvr additive="base">
                                        <p:cTn id="16" dur="500" fill="hold"/>
                                        <p:tgtEl>
                                          <p:spTgt spid="1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6" grpId="0"/>
      <p:bldP spid="17" grpId="0"/>
      <p:bldP spid="18"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62262"/>
        </a:solidFill>
        <a:effectLst/>
      </p:bgPr>
    </p:bg>
    <p:spTree>
      <p:nvGrpSpPr>
        <p:cNvPr id="1" name=""/>
        <p:cNvGrpSpPr/>
        <p:nvPr/>
      </p:nvGrpSpPr>
      <p:grpSpPr>
        <a:xfrm>
          <a:off x="0" y="0"/>
          <a:ext cx="0" cy="0"/>
          <a:chOff x="0" y="0"/>
          <a:chExt cx="0" cy="0"/>
        </a:xfrm>
      </p:grpSpPr>
      <p:sp>
        <p:nvSpPr>
          <p:cNvPr id="2" name="TextBox 2"/>
          <p:cNvSpPr txBox="1"/>
          <p:nvPr/>
        </p:nvSpPr>
        <p:spPr>
          <a:xfrm>
            <a:off x="2600263" y="5160946"/>
            <a:ext cx="13087475" cy="868680"/>
          </a:xfrm>
          <a:prstGeom prst="rect">
            <a:avLst/>
          </a:prstGeom>
        </p:spPr>
        <p:txBody>
          <a:bodyPr lIns="0" tIns="0" rIns="0" bIns="0" rtlCol="0" anchor="t">
            <a:spAutoFit/>
          </a:bodyPr>
          <a:lstStyle/>
          <a:p>
            <a:pPr marL="0" lvl="0" indent="0" algn="ctr">
              <a:lnSpc>
                <a:spcPts val="4799"/>
              </a:lnSpc>
            </a:pPr>
            <a:r>
              <a:rPr lang="en-US" sz="3199" b="1" u="none" strike="noStrike" spc="319">
                <a:solidFill>
                  <a:srgbClr val="FFFFFF"/>
                </a:solidFill>
                <a:latin typeface="モトヤゴシック w Medium"/>
                <a:ea typeface="モトヤゴシック w Medium"/>
                <a:cs typeface="モトヤゴシック w Medium"/>
                <a:sym typeface="モトヤゴシック w Medium"/>
              </a:rPr>
              <a:t>最後までご覧いただき、ありがとうございました。</a:t>
            </a:r>
          </a:p>
        </p:txBody>
      </p:sp>
      <p:sp>
        <p:nvSpPr>
          <p:cNvPr id="3" name="TextBox 3"/>
          <p:cNvSpPr txBox="1"/>
          <p:nvPr/>
        </p:nvSpPr>
        <p:spPr>
          <a:xfrm>
            <a:off x="5638800" y="3657299"/>
            <a:ext cx="6475958" cy="974626"/>
          </a:xfrm>
          <a:prstGeom prst="rect">
            <a:avLst/>
          </a:prstGeom>
        </p:spPr>
        <p:txBody>
          <a:bodyPr wrap="square" lIns="0" tIns="0" rIns="0" bIns="0" rtlCol="0" anchor="t">
            <a:spAutoFit/>
          </a:bodyPr>
          <a:lstStyle/>
          <a:p>
            <a:pPr algn="l">
              <a:lnSpc>
                <a:spcPts val="7562"/>
              </a:lnSpc>
            </a:pPr>
            <a:r>
              <a:rPr lang="en-US" sz="6576" b="1" spc="657" dirty="0">
                <a:solidFill>
                  <a:srgbClr val="FFFFFF"/>
                </a:solidFill>
                <a:latin typeface="モトヤゴシック w Semi-Bold"/>
                <a:ea typeface="モトヤゴシック w Semi-Bold"/>
                <a:cs typeface="モトヤゴシック w Semi-Bold"/>
                <a:sym typeface="モトヤゴシック w Semi-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2906</TotalTime>
  <Words>678</Words>
  <Application>Microsoft Office PowerPoint</Application>
  <PresentationFormat>ユーザー設定</PresentationFormat>
  <Paragraphs>111</Paragraphs>
  <Slides>8</Slides>
  <Notes>7</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8</vt:i4>
      </vt:variant>
    </vt:vector>
  </HeadingPairs>
  <TitlesOfParts>
    <vt:vector size="17" baseType="lpstr">
      <vt:lpstr>Source Han Sans JP Bold</vt:lpstr>
      <vt:lpstr>Calibri</vt:lpstr>
      <vt:lpstr>モトヤゴシック w Medium</vt:lpstr>
      <vt:lpstr>モトヤゴシック w</vt:lpstr>
      <vt:lpstr>游ゴシック</vt:lpstr>
      <vt:lpstr>Arial</vt:lpstr>
      <vt:lpstr>モトヤゴシック w Semi-Bold</vt:lpstr>
      <vt:lpstr>モトヤゴシック w Bold</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地震被害度測定アプリ</dc:title>
  <cp:lastModifiedBy>松田　駈琉</cp:lastModifiedBy>
  <cp:revision>6</cp:revision>
  <dcterms:created xsi:type="dcterms:W3CDTF">2006-08-16T00:00:00Z</dcterms:created>
  <dcterms:modified xsi:type="dcterms:W3CDTF">2026-10-23T00:42:37Z</dcterms:modified>
  <dc:identifier>DAHWuXGawwY</dc:identifier>
</cp:coreProperties>
</file>