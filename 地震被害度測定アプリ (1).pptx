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Source Han Sans JP Bold" panose="020B0600070205080204" charset="-128"/>
      <p:regular r:id="rId11"/>
    </p:embeddedFont>
    <p:embeddedFont>
      <p:font typeface="モトヤゴシック w" panose="020B0600070205080204" charset="-128"/>
      <p:regular r:id="rId12"/>
    </p:embeddedFont>
    <p:embeddedFont>
      <p:font typeface="モトヤゴシック w Bold" panose="020B0600070205080204" charset="-128"/>
      <p:regular r:id="rId13"/>
    </p:embeddedFont>
    <p:embeddedFont>
      <p:font typeface="モトヤゴシック w Medium" panose="020B0600070205080204" charset="-128"/>
      <p:regular r:id="rId14"/>
    </p:embeddedFont>
    <p:embeddedFont>
      <p:font typeface="モトヤゴシック w Semi-Bold" panose="020B0600070205080204" charset="-128"/>
      <p:regular r:id="rId15"/>
    </p:embeddedFont>
    <p:embeddedFont>
      <p:font typeface="游ゴシック" panose="020B0400000000000000" pitchFamily="50" charset="-128"/>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166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5A3D9-BBEF-4F36-9367-DC3593CEE025}"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0DC09-7382-48E6-8AA7-CC2AC4AFF05D}" type="slidenum">
              <a:rPr kumimoji="1" lang="ja-JP" altLang="en-US" smtClean="0"/>
              <a:t>‹#›</a:t>
            </a:fld>
            <a:endParaRPr kumimoji="1" lang="ja-JP" altLang="en-US"/>
          </a:p>
        </p:txBody>
      </p:sp>
    </p:spTree>
    <p:extLst>
      <p:ext uri="{BB962C8B-B14F-4D97-AF65-F5344CB8AC3E}">
        <p14:creationId xmlns:p14="http://schemas.microsoft.com/office/powerpoint/2010/main" val="18903889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4</a:t>
            </a:fld>
            <a:endParaRPr kumimoji="1" lang="ja-JP" altLang="en-US"/>
          </a:p>
        </p:txBody>
      </p:sp>
    </p:spTree>
    <p:extLst>
      <p:ext uri="{BB962C8B-B14F-4D97-AF65-F5344CB8AC3E}">
        <p14:creationId xmlns:p14="http://schemas.microsoft.com/office/powerpoint/2010/main" val="3914636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次に、私たちが考えたシステムの概要について説明します</a:t>
            </a:r>
          </a:p>
          <a:p>
            <a:endParaRPr kumimoji="1" lang="ja-JP" altLang="en-US" dirty="0"/>
          </a:p>
          <a:p>
            <a:r>
              <a:rPr kumimoji="1" lang="ja-JP" altLang="en-US" dirty="0"/>
              <a:t>まず、ユーザーが建物の写真を撮影もしくはアップロードし、建物の状態などの情報を入力します。</a:t>
            </a:r>
          </a:p>
          <a:p>
            <a:endParaRPr kumimoji="1" lang="ja-JP" altLang="en-US" dirty="0"/>
          </a:p>
          <a:p>
            <a:r>
              <a:rPr kumimoji="1" lang="ja-JP" altLang="en-US" dirty="0"/>
              <a:t>入力された写真や情報を、</a:t>
            </a:r>
            <a:r>
              <a:rPr kumimoji="1" lang="en-US" altLang="ja-JP" dirty="0"/>
              <a:t>AI</a:t>
            </a:r>
            <a:r>
              <a:rPr kumimoji="1" lang="ja-JP" altLang="en-US" dirty="0"/>
              <a:t>が分析します。</a:t>
            </a:r>
          </a:p>
          <a:p>
            <a:endParaRPr kumimoji="1" lang="ja-JP" altLang="en-US" dirty="0"/>
          </a:p>
          <a:p>
            <a:r>
              <a:rPr kumimoji="1" lang="ja-JP" altLang="en-US" dirty="0"/>
              <a:t>分析した結果として、分析結果や必要な対応を確認できます。</a:t>
            </a:r>
          </a:p>
          <a:p>
            <a:endParaRPr kumimoji="1" lang="ja-JP" altLang="en-US" dirty="0"/>
          </a:p>
          <a:p>
            <a:r>
              <a:rPr kumimoji="1" lang="ja-JP" altLang="en-US" dirty="0"/>
              <a:t>またログインしている場合、過去に行った分析結果も履歴として確認できます。</a:t>
            </a:r>
          </a:p>
          <a:p>
            <a:endParaRPr kumimoji="1" lang="ja-JP" altLang="en-US" dirty="0"/>
          </a:p>
          <a:p>
            <a:r>
              <a:rPr kumimoji="1" lang="ja-JP" altLang="en-US" dirty="0"/>
              <a:t>このように、地震後の建物の状態を確認するために必要な情報を、一つのシステムで確認できるようにしました。</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5</a:t>
            </a:fld>
            <a:endParaRPr kumimoji="1" lang="ja-JP" altLang="en-US"/>
          </a:p>
        </p:txBody>
      </p:sp>
    </p:spTree>
    <p:extLst>
      <p:ext uri="{BB962C8B-B14F-4D97-AF65-F5344CB8AC3E}">
        <p14:creationId xmlns:p14="http://schemas.microsoft.com/office/powerpoint/2010/main" val="173040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次に、今回のシステムについてまとめます。</a:t>
            </a:r>
          </a:p>
          <a:p>
            <a:endParaRPr kumimoji="1" lang="ja-JP" altLang="en-US" dirty="0"/>
          </a:p>
          <a:p>
            <a:r>
              <a:rPr kumimoji="1" lang="ja-JP" altLang="en-US" dirty="0"/>
              <a:t>このシステムでは、</a:t>
            </a:r>
            <a:r>
              <a:rPr kumimoji="1" lang="en-US" altLang="ja-JP" dirty="0"/>
              <a:t>AI</a:t>
            </a:r>
            <a:r>
              <a:rPr kumimoji="1" lang="ja-JP" altLang="en-US" dirty="0"/>
              <a:t>が建物の写真や入力された情報をもとに、被害状況を分析します。</a:t>
            </a:r>
          </a:p>
          <a:p>
            <a:endParaRPr kumimoji="1" lang="ja-JP" altLang="en-US" dirty="0"/>
          </a:p>
          <a:p>
            <a:r>
              <a:rPr kumimoji="1" lang="ja-JP" altLang="en-US" dirty="0"/>
              <a:t>また、分析結果から、必要な対応や自治体への相談を検討するための情報を確認できます。</a:t>
            </a:r>
          </a:p>
          <a:p>
            <a:endParaRPr kumimoji="1" lang="ja-JP" altLang="en-US" dirty="0"/>
          </a:p>
          <a:p>
            <a:r>
              <a:rPr kumimoji="1" lang="ja-JP" altLang="en-US" dirty="0"/>
              <a:t>ただし、留意事項が</a:t>
            </a:r>
            <a:r>
              <a:rPr kumimoji="1" lang="en-US" altLang="ja-JP" dirty="0"/>
              <a:t>2</a:t>
            </a:r>
            <a:r>
              <a:rPr kumimoji="1" lang="ja-JP" altLang="en-US" dirty="0"/>
              <a:t>つあります。</a:t>
            </a:r>
          </a:p>
          <a:p>
            <a:endParaRPr kumimoji="1" lang="ja-JP" altLang="en-US" dirty="0"/>
          </a:p>
          <a:p>
            <a:r>
              <a:rPr kumimoji="1" lang="en-US" altLang="ja-JP" dirty="0"/>
              <a:t>1</a:t>
            </a:r>
            <a:r>
              <a:rPr kumimoji="1" lang="ja-JP" altLang="en-US" dirty="0"/>
              <a:t>つ目は、</a:t>
            </a:r>
            <a:r>
              <a:rPr kumimoji="1" lang="en-US" altLang="ja-JP" dirty="0"/>
              <a:t>AI</a:t>
            </a:r>
            <a:r>
              <a:rPr kumimoji="1" lang="ja-JP" altLang="en-US" dirty="0"/>
              <a:t>による分析結果が、建物の安全性を保証するものではないということです。そのため、必要に応じて専門家に相談することが重要です。</a:t>
            </a:r>
          </a:p>
          <a:p>
            <a:endParaRPr kumimoji="1" lang="ja-JP" altLang="en-US" dirty="0"/>
          </a:p>
          <a:p>
            <a:r>
              <a:rPr kumimoji="1" lang="en-US" altLang="ja-JP" dirty="0"/>
              <a:t>2</a:t>
            </a:r>
            <a:r>
              <a:rPr kumimoji="1" lang="ja-JP" altLang="en-US" dirty="0"/>
              <a:t>つ目は、今回のシステムの対象が、戸建て住宅と集合住宅に限られているということです。</a:t>
            </a:r>
          </a:p>
          <a:p>
            <a:endParaRPr kumimoji="1" lang="ja-JP" altLang="en-US" dirty="0"/>
          </a:p>
          <a:p>
            <a:r>
              <a:rPr kumimoji="1" lang="ja-JP" altLang="en-US" dirty="0"/>
              <a:t>私たちは、このシステムを通して、地震後の建物の状態を確認する際の不安や判断の難しさを減らし、専門家へ相談する際の判断材料を提供することを目指しています。</a:t>
            </a:r>
          </a:p>
          <a:p>
            <a:endParaRPr kumimoji="1" lang="ja-JP" altLang="en-US" dirty="0"/>
          </a:p>
          <a:p>
            <a:endParaRPr kumimoji="1" lang="ja-JP" altLang="en-US" dirty="0"/>
          </a:p>
          <a:p>
            <a:r>
              <a:rPr kumimoji="1" lang="ja-JP" altLang="en-US"/>
              <a:t>最後に今回作成するシステムの画面イメージを一通り動かします</a:t>
            </a:r>
          </a:p>
          <a:p>
            <a:endParaRPr kumimoji="1" lang="ja-JP" altLang="en-US"/>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6</a:t>
            </a:fld>
            <a:endParaRPr kumimoji="1" lang="ja-JP" altLang="en-US"/>
          </a:p>
        </p:txBody>
      </p:sp>
    </p:spTree>
    <p:extLst>
      <p:ext uri="{BB962C8B-B14F-4D97-AF65-F5344CB8AC3E}">
        <p14:creationId xmlns:p14="http://schemas.microsoft.com/office/powerpoint/2010/main" val="2850576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7</a:t>
            </a:fld>
            <a:endParaRPr kumimoji="1" lang="ja-JP" altLang="en-US"/>
          </a:p>
        </p:txBody>
      </p:sp>
    </p:spTree>
    <p:extLst>
      <p:ext uri="{BB962C8B-B14F-4D97-AF65-F5344CB8AC3E}">
        <p14:creationId xmlns:p14="http://schemas.microsoft.com/office/powerpoint/2010/main" val="1888019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048250"/>
            <a:ext cx="5238750" cy="5238750"/>
          </a:xfrm>
          <a:custGeom>
            <a:avLst/>
            <a:gdLst/>
            <a:ahLst/>
            <a:cxnLst/>
            <a:rect l="l" t="t" r="r" b="b"/>
            <a:pathLst>
              <a:path w="5238750" h="5238750">
                <a:moveTo>
                  <a:pt x="0" y="0"/>
                </a:moveTo>
                <a:lnTo>
                  <a:pt x="5238750" y="0"/>
                </a:lnTo>
                <a:lnTo>
                  <a:pt x="5238750" y="5238750"/>
                </a:lnTo>
                <a:lnTo>
                  <a:pt x="0" y="52387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ja-JP" altLang="en-US"/>
          </a:p>
        </p:txBody>
      </p:sp>
      <p:sp>
        <p:nvSpPr>
          <p:cNvPr id="3" name="Freeform 3"/>
          <p:cNvSpPr/>
          <p:nvPr/>
        </p:nvSpPr>
        <p:spPr>
          <a:xfrm rot="-10800000">
            <a:off x="13049250" y="0"/>
            <a:ext cx="5238750" cy="4724400"/>
          </a:xfrm>
          <a:custGeom>
            <a:avLst/>
            <a:gdLst/>
            <a:ahLst/>
            <a:cxnLst/>
            <a:rect l="l" t="t" r="r" b="b"/>
            <a:pathLst>
              <a:path w="5238750" h="4724400">
                <a:moveTo>
                  <a:pt x="0" y="0"/>
                </a:moveTo>
                <a:lnTo>
                  <a:pt x="5238750" y="0"/>
                </a:lnTo>
                <a:lnTo>
                  <a:pt x="5238750" y="4724400"/>
                </a:lnTo>
                <a:lnTo>
                  <a:pt x="0" y="4724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4" name="TextBox 4"/>
          <p:cNvSpPr txBox="1"/>
          <p:nvPr/>
        </p:nvSpPr>
        <p:spPr>
          <a:xfrm>
            <a:off x="3930309" y="2923223"/>
            <a:ext cx="10427382" cy="3602353"/>
          </a:xfrm>
          <a:prstGeom prst="rect">
            <a:avLst/>
          </a:prstGeom>
        </p:spPr>
        <p:txBody>
          <a:bodyPr lIns="0" tIns="0" rIns="0" bIns="0" rtlCol="0" anchor="t">
            <a:spAutoFit/>
          </a:bodyPr>
          <a:lstStyle/>
          <a:p>
            <a:pPr algn="ctr">
              <a:lnSpc>
                <a:spcPts val="10694"/>
              </a:lnSpc>
            </a:pPr>
            <a:r>
              <a:rPr lang="en-US" sz="9299" b="1" spc="1394">
                <a:solidFill>
                  <a:srgbClr val="262262"/>
                </a:solidFill>
                <a:latin typeface="モトヤゴシック w Semi-Bold"/>
                <a:ea typeface="モトヤゴシック w Semi-Bold"/>
                <a:cs typeface="モトヤゴシック w Semi-Bold"/>
                <a:sym typeface="モトヤゴシック w Semi-Bold"/>
              </a:rPr>
              <a:t>地震被害度</a:t>
            </a:r>
          </a:p>
          <a:p>
            <a:pPr algn="ctr">
              <a:lnSpc>
                <a:spcPts val="10694"/>
              </a:lnSpc>
            </a:pPr>
            <a:r>
              <a:rPr lang="en-US" sz="9299" spc="1394">
                <a:solidFill>
                  <a:srgbClr val="262262"/>
                </a:solidFill>
                <a:latin typeface="モトヤゴシック w"/>
                <a:ea typeface="モトヤゴシック w"/>
                <a:cs typeface="モトヤゴシック w"/>
                <a:sym typeface="モトヤゴシック w"/>
              </a:rPr>
              <a:t>測定システム</a:t>
            </a:r>
          </a:p>
        </p:txBody>
      </p:sp>
      <p:grpSp>
        <p:nvGrpSpPr>
          <p:cNvPr id="5" name="Group 5"/>
          <p:cNvGrpSpPr/>
          <p:nvPr/>
        </p:nvGrpSpPr>
        <p:grpSpPr>
          <a:xfrm>
            <a:off x="6989425" y="8572179"/>
            <a:ext cx="4309149" cy="1372241"/>
            <a:chOff x="0" y="0"/>
            <a:chExt cx="5745532" cy="1829655"/>
          </a:xfrm>
        </p:grpSpPr>
        <p:sp>
          <p:nvSpPr>
            <p:cNvPr id="6" name="TextBox 6"/>
            <p:cNvSpPr txBox="1"/>
            <p:nvPr/>
          </p:nvSpPr>
          <p:spPr>
            <a:xfrm>
              <a:off x="3272820" y="-285750"/>
              <a:ext cx="2472713"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坂上　翔真 </a:t>
              </a:r>
            </a:p>
          </p:txBody>
        </p:sp>
        <p:sp>
          <p:nvSpPr>
            <p:cNvPr id="7" name="TextBox 7"/>
            <p:cNvSpPr txBox="1"/>
            <p:nvPr/>
          </p:nvSpPr>
          <p:spPr>
            <a:xfrm>
              <a:off x="0" y="343172"/>
              <a:ext cx="2939904"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岩本　武飛冴 </a:t>
              </a:r>
            </a:p>
          </p:txBody>
        </p:sp>
        <p:sp>
          <p:nvSpPr>
            <p:cNvPr id="8" name="TextBox 8"/>
            <p:cNvSpPr txBox="1"/>
            <p:nvPr/>
          </p:nvSpPr>
          <p:spPr>
            <a:xfrm>
              <a:off x="0" y="1043317"/>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塚本　康太</a:t>
              </a:r>
            </a:p>
          </p:txBody>
        </p:sp>
        <p:sp>
          <p:nvSpPr>
            <p:cNvPr id="9" name="TextBox 9"/>
            <p:cNvSpPr txBox="1"/>
            <p:nvPr/>
          </p:nvSpPr>
          <p:spPr>
            <a:xfrm>
              <a:off x="3409724" y="1043317"/>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松田　駈琉</a:t>
              </a:r>
            </a:p>
          </p:txBody>
        </p:sp>
        <p:sp>
          <p:nvSpPr>
            <p:cNvPr id="10" name="TextBox 10"/>
            <p:cNvSpPr txBox="1"/>
            <p:nvPr/>
          </p:nvSpPr>
          <p:spPr>
            <a:xfrm>
              <a:off x="0" y="-285750"/>
              <a:ext cx="2939904"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田上　虎太郎 </a:t>
              </a:r>
            </a:p>
          </p:txBody>
        </p:sp>
        <p:sp>
          <p:nvSpPr>
            <p:cNvPr id="11" name="TextBox 11"/>
            <p:cNvSpPr txBox="1"/>
            <p:nvPr/>
          </p:nvSpPr>
          <p:spPr>
            <a:xfrm>
              <a:off x="3341272" y="343172"/>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齋藤　誠斗</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grpSp>
        <p:nvGrpSpPr>
          <p:cNvPr id="8" name="Group 8"/>
          <p:cNvGrpSpPr/>
          <p:nvPr/>
        </p:nvGrpSpPr>
        <p:grpSpPr>
          <a:xfrm>
            <a:off x="857643" y="2199731"/>
            <a:ext cx="4919748" cy="7314969"/>
            <a:chOff x="0" y="-466725"/>
            <a:chExt cx="6559664" cy="9753291"/>
          </a:xfrm>
        </p:grpSpPr>
        <p:sp>
          <p:nvSpPr>
            <p:cNvPr id="9" name="Freeform 9"/>
            <p:cNvSpPr/>
            <p:nvPr/>
          </p:nvSpPr>
          <p:spPr>
            <a:xfrm>
              <a:off x="0" y="2156497"/>
              <a:ext cx="6559664" cy="7130069"/>
            </a:xfrm>
            <a:custGeom>
              <a:avLst/>
              <a:gdLst/>
              <a:ahLst/>
              <a:cxnLst/>
              <a:rect l="l" t="t" r="r" b="b"/>
              <a:pathLst>
                <a:path w="6559664" h="7130069">
                  <a:moveTo>
                    <a:pt x="0" y="0"/>
                  </a:moveTo>
                  <a:lnTo>
                    <a:pt x="6559664" y="0"/>
                  </a:lnTo>
                  <a:lnTo>
                    <a:pt x="6559664" y="7130069"/>
                  </a:lnTo>
                  <a:lnTo>
                    <a:pt x="0" y="7130069"/>
                  </a:lnTo>
                  <a:lnTo>
                    <a:pt x="0" y="0"/>
                  </a:lnTo>
                  <a:close/>
                </a:path>
              </a:pathLst>
            </a:custGeom>
            <a:blipFill>
              <a:blip r:embed="rId2"/>
              <a:stretch>
                <a:fillRect/>
              </a:stretch>
            </a:blipFill>
          </p:spPr>
          <p:txBody>
            <a:bodyPr/>
            <a:lstStyle/>
            <a:p>
              <a:endParaRPr lang="ja-JP" altLang="en-US"/>
            </a:p>
          </p:txBody>
        </p:sp>
        <p:sp>
          <p:nvSpPr>
            <p:cNvPr id="10" name="TextBox 10"/>
            <p:cNvSpPr txBox="1"/>
            <p:nvPr/>
          </p:nvSpPr>
          <p:spPr>
            <a:xfrm>
              <a:off x="482076" y="-466725"/>
              <a:ext cx="5182087" cy="839888"/>
            </a:xfrm>
            <a:prstGeom prst="rect">
              <a:avLst/>
            </a:prstGeom>
          </p:spPr>
          <p:txBody>
            <a:bodyPr wrap="square" lIns="0" tIns="0" rIns="0" bIns="0" rtlCol="0" anchor="t">
              <a:spAutoFit/>
            </a:bodyPr>
            <a:lstStyle/>
            <a:p>
              <a:pPr algn="ctr">
                <a:lnSpc>
                  <a:spcPts val="5633"/>
                </a:lnSpc>
                <a:spcBef>
                  <a:spcPct val="0"/>
                </a:spcBef>
              </a:pPr>
              <a:r>
                <a:rPr lang="en-US" sz="4023" b="1" dirty="0" err="1">
                  <a:solidFill>
                    <a:srgbClr val="262262"/>
                  </a:solidFill>
                  <a:latin typeface="モトヤゴシック w Bold"/>
                  <a:ea typeface="モトヤゴシック w Bold"/>
                  <a:cs typeface="モトヤゴシック w Bold"/>
                  <a:sym typeface="モトヤゴシック w Bold"/>
                </a:rPr>
                <a:t>地震発生</a:t>
              </a:r>
              <a:r>
                <a:rPr lang="en-US" sz="4023" b="1" dirty="0">
                  <a:solidFill>
                    <a:srgbClr val="262262"/>
                  </a:solidFill>
                  <a:latin typeface="モトヤゴシック w Bold"/>
                  <a:ea typeface="モトヤゴシック w Bold"/>
                  <a:cs typeface="モトヤゴシック w Bold"/>
                  <a:sym typeface="モトヤゴシック w Bold"/>
                </a:rPr>
                <a:t>！！！</a:t>
              </a:r>
            </a:p>
          </p:txBody>
        </p:sp>
      </p:grpSp>
      <p:grpSp>
        <p:nvGrpSpPr>
          <p:cNvPr id="11" name="Group 11"/>
          <p:cNvGrpSpPr/>
          <p:nvPr/>
        </p:nvGrpSpPr>
        <p:grpSpPr>
          <a:xfrm>
            <a:off x="6743945" y="3925745"/>
            <a:ext cx="4800110" cy="5562892"/>
            <a:chOff x="0" y="0"/>
            <a:chExt cx="6400147" cy="7417190"/>
          </a:xfrm>
        </p:grpSpPr>
        <p:sp>
          <p:nvSpPr>
            <p:cNvPr id="12" name="Freeform 12"/>
            <p:cNvSpPr/>
            <p:nvPr/>
          </p:nvSpPr>
          <p:spPr>
            <a:xfrm>
              <a:off x="0" y="0"/>
              <a:ext cx="6400147" cy="5542027"/>
            </a:xfrm>
            <a:custGeom>
              <a:avLst/>
              <a:gdLst/>
              <a:ahLst/>
              <a:cxnLst/>
              <a:rect l="l" t="t" r="r" b="b"/>
              <a:pathLst>
                <a:path w="6400147" h="5542027">
                  <a:moveTo>
                    <a:pt x="0" y="0"/>
                  </a:moveTo>
                  <a:lnTo>
                    <a:pt x="6400147" y="0"/>
                  </a:lnTo>
                  <a:lnTo>
                    <a:pt x="6400147" y="5542027"/>
                  </a:lnTo>
                  <a:lnTo>
                    <a:pt x="0" y="5542027"/>
                  </a:lnTo>
                  <a:lnTo>
                    <a:pt x="0" y="0"/>
                  </a:lnTo>
                  <a:close/>
                </a:path>
              </a:pathLst>
            </a:custGeom>
            <a:blipFill>
              <a:blip r:embed="rId3"/>
              <a:stretch>
                <a:fillRect/>
              </a:stretch>
            </a:blipFill>
          </p:spPr>
          <p:txBody>
            <a:bodyPr/>
            <a:lstStyle/>
            <a:p>
              <a:endParaRPr lang="ja-JP" altLang="en-US"/>
            </a:p>
          </p:txBody>
        </p:sp>
        <p:sp>
          <p:nvSpPr>
            <p:cNvPr id="13" name="TextBox 13"/>
            <p:cNvSpPr txBox="1"/>
            <p:nvPr/>
          </p:nvSpPr>
          <p:spPr>
            <a:xfrm>
              <a:off x="1269675" y="6577302"/>
              <a:ext cx="4091547" cy="839888"/>
            </a:xfrm>
            <a:prstGeom prst="rect">
              <a:avLst/>
            </a:prstGeom>
          </p:spPr>
          <p:txBody>
            <a:bodyPr wrap="square" lIns="0" tIns="0" rIns="0" bIns="0" rtlCol="0" anchor="t">
              <a:spAutoFit/>
            </a:bodyPr>
            <a:lstStyle/>
            <a:p>
              <a:pPr algn="ctr">
                <a:lnSpc>
                  <a:spcPts val="5633"/>
                </a:lnSpc>
                <a:spcBef>
                  <a:spcPct val="0"/>
                </a:spcBef>
              </a:pPr>
              <a:r>
                <a:rPr lang="en-US" sz="4023" b="1" dirty="0" err="1">
                  <a:solidFill>
                    <a:srgbClr val="262262"/>
                  </a:solidFill>
                  <a:latin typeface="モトヤゴシック w Bold"/>
                  <a:ea typeface="モトヤゴシック w Bold"/>
                  <a:cs typeface="モトヤゴシック w Bold"/>
                  <a:sym typeface="モトヤゴシック w Bold"/>
                </a:rPr>
                <a:t>家にひびが</a:t>
              </a:r>
              <a:r>
                <a:rPr lang="en-US" sz="4023" b="1" dirty="0">
                  <a:solidFill>
                    <a:srgbClr val="262262"/>
                  </a:solidFill>
                  <a:latin typeface="モトヤゴシック w Bold"/>
                  <a:ea typeface="モトヤゴシック w Bold"/>
                  <a:cs typeface="モトヤゴシック w Bold"/>
                  <a:sym typeface="モトヤゴシック w Bold"/>
                </a:rPr>
                <a:t>！</a:t>
              </a:r>
            </a:p>
          </p:txBody>
        </p:sp>
      </p:grpSp>
      <p:sp>
        <p:nvSpPr>
          <p:cNvPr id="14" name="Freeform 14"/>
          <p:cNvSpPr/>
          <p:nvPr/>
        </p:nvSpPr>
        <p:spPr>
          <a:xfrm>
            <a:off x="12956228" y="3829450"/>
            <a:ext cx="3827339" cy="5428850"/>
          </a:xfrm>
          <a:custGeom>
            <a:avLst/>
            <a:gdLst/>
            <a:ahLst/>
            <a:cxnLst/>
            <a:rect l="l" t="t" r="r" b="b"/>
            <a:pathLst>
              <a:path w="3827339" h="5428850">
                <a:moveTo>
                  <a:pt x="0" y="0"/>
                </a:moveTo>
                <a:lnTo>
                  <a:pt x="3827339" y="0"/>
                </a:lnTo>
                <a:lnTo>
                  <a:pt x="3827339" y="5428850"/>
                </a:lnTo>
                <a:lnTo>
                  <a:pt x="0" y="5428850"/>
                </a:lnTo>
                <a:lnTo>
                  <a:pt x="0" y="0"/>
                </a:lnTo>
                <a:close/>
              </a:path>
            </a:pathLst>
          </a:custGeom>
          <a:blipFill>
            <a:blip r:embed="rId4"/>
            <a:stretch>
              <a:fillRect/>
            </a:stretch>
          </a:blipFill>
        </p:spPr>
        <p:txBody>
          <a:bodyPr/>
          <a:lstStyle/>
          <a:p>
            <a:endParaRPr lang="ja-JP" altLang="en-US"/>
          </a:p>
        </p:txBody>
      </p:sp>
      <p:sp>
        <p:nvSpPr>
          <p:cNvPr id="15" name="TextBox 15"/>
          <p:cNvSpPr txBox="1"/>
          <p:nvPr/>
        </p:nvSpPr>
        <p:spPr>
          <a:xfrm>
            <a:off x="3057774" y="393825"/>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背景と課題</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6" name="TextBox 16"/>
          <p:cNvSpPr txBox="1"/>
          <p:nvPr/>
        </p:nvSpPr>
        <p:spPr>
          <a:xfrm>
            <a:off x="-68726" y="322712"/>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01</a:t>
            </a:r>
          </a:p>
        </p:txBody>
      </p:sp>
      <p:sp>
        <p:nvSpPr>
          <p:cNvPr id="17" name="TextBox 17"/>
          <p:cNvSpPr txBox="1"/>
          <p:nvPr/>
        </p:nvSpPr>
        <p:spPr>
          <a:xfrm>
            <a:off x="13182238" y="2083050"/>
            <a:ext cx="2709528" cy="629916"/>
          </a:xfrm>
          <a:prstGeom prst="rect">
            <a:avLst/>
          </a:prstGeom>
        </p:spPr>
        <p:txBody>
          <a:bodyPr wrap="square" lIns="0" tIns="0" rIns="0" bIns="0" rtlCol="0" anchor="t">
            <a:spAutoFit/>
          </a:bodyPr>
          <a:lstStyle/>
          <a:p>
            <a:pPr algn="ctr">
              <a:lnSpc>
                <a:spcPts val="5633"/>
              </a:lnSpc>
              <a:spcBef>
                <a:spcPct val="0"/>
              </a:spcBef>
            </a:pPr>
            <a:r>
              <a:rPr lang="en-US" sz="4023" b="1" dirty="0" err="1">
                <a:solidFill>
                  <a:srgbClr val="262262"/>
                </a:solidFill>
                <a:latin typeface="モトヤゴシック w Bold"/>
                <a:ea typeface="モトヤゴシック w Bold"/>
                <a:cs typeface="モトヤゴシック w Bold"/>
                <a:sym typeface="モトヤゴシック w Bold"/>
              </a:rPr>
              <a:t>家が心配</a:t>
            </a:r>
            <a:endParaRPr lang="en-US" sz="4023" b="1" dirty="0">
              <a:solidFill>
                <a:srgbClr val="262262"/>
              </a:solidFill>
              <a:latin typeface="モトヤゴシック w Bold"/>
              <a:ea typeface="モトヤゴシック w Bold"/>
              <a:cs typeface="モトヤゴシック w Bold"/>
              <a:sym typeface="モトヤゴシック w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8" name="Freeform 8"/>
          <p:cNvSpPr/>
          <p:nvPr/>
        </p:nvSpPr>
        <p:spPr>
          <a:xfrm>
            <a:off x="13231437" y="4205263"/>
            <a:ext cx="4727635" cy="6061071"/>
          </a:xfrm>
          <a:custGeom>
            <a:avLst/>
            <a:gdLst/>
            <a:ahLst/>
            <a:cxnLst/>
            <a:rect l="l" t="t" r="r" b="b"/>
            <a:pathLst>
              <a:path w="4727635" h="6061071">
                <a:moveTo>
                  <a:pt x="0" y="0"/>
                </a:moveTo>
                <a:lnTo>
                  <a:pt x="4727636" y="0"/>
                </a:lnTo>
                <a:lnTo>
                  <a:pt x="4727636" y="6061071"/>
                </a:lnTo>
                <a:lnTo>
                  <a:pt x="0" y="6061071"/>
                </a:lnTo>
                <a:lnTo>
                  <a:pt x="0" y="0"/>
                </a:lnTo>
                <a:close/>
              </a:path>
            </a:pathLst>
          </a:custGeom>
          <a:blipFill>
            <a:blip r:embed="rId2"/>
            <a:stretch>
              <a:fillRect/>
            </a:stretch>
          </a:blipFill>
        </p:spPr>
        <p:txBody>
          <a:bodyPr/>
          <a:lstStyle/>
          <a:p>
            <a:endParaRPr lang="ja-JP" altLang="en-US"/>
          </a:p>
        </p:txBody>
      </p:sp>
      <p:sp>
        <p:nvSpPr>
          <p:cNvPr id="9" name="TextBox 9"/>
          <p:cNvSpPr txBox="1"/>
          <p:nvPr/>
        </p:nvSpPr>
        <p:spPr>
          <a:xfrm>
            <a:off x="2927840" y="187826"/>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背景と課題</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0" name="TextBox 10"/>
          <p:cNvSpPr txBox="1"/>
          <p:nvPr/>
        </p:nvSpPr>
        <p:spPr>
          <a:xfrm>
            <a:off x="-68726" y="347540"/>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01</a:t>
            </a:r>
          </a:p>
        </p:txBody>
      </p:sp>
      <p:sp>
        <p:nvSpPr>
          <p:cNvPr id="11" name="TextBox 11"/>
          <p:cNvSpPr txBox="1"/>
          <p:nvPr/>
        </p:nvSpPr>
        <p:spPr>
          <a:xfrm>
            <a:off x="1069072" y="2974118"/>
            <a:ext cx="10695014" cy="887095"/>
          </a:xfrm>
          <a:prstGeom prst="rect">
            <a:avLst/>
          </a:prstGeom>
        </p:spPr>
        <p:txBody>
          <a:bodyPr lIns="0" tIns="0" rIns="0" bIns="0" rtlCol="0" anchor="t">
            <a:spAutoFit/>
          </a:bodyPr>
          <a:lstStyle/>
          <a:p>
            <a:pPr algn="ctr">
              <a:lnSpc>
                <a:spcPts val="7279"/>
              </a:lnSpc>
            </a:pPr>
            <a:r>
              <a:rPr lang="en-US" sz="5199" b="1">
                <a:solidFill>
                  <a:srgbClr val="262262"/>
                </a:solidFill>
                <a:latin typeface="Source Han Sans JP Bold"/>
                <a:ea typeface="Source Han Sans JP Bold"/>
                <a:cs typeface="Source Han Sans JP Bold"/>
                <a:sym typeface="Source Han Sans JP Bold"/>
              </a:rPr>
              <a:t>・業者来るのに1~2週間かかる</a:t>
            </a:r>
          </a:p>
        </p:txBody>
      </p:sp>
      <p:sp>
        <p:nvSpPr>
          <p:cNvPr id="12" name="TextBox 12"/>
          <p:cNvSpPr txBox="1"/>
          <p:nvPr/>
        </p:nvSpPr>
        <p:spPr>
          <a:xfrm>
            <a:off x="814320" y="5375688"/>
            <a:ext cx="10695014" cy="887095"/>
          </a:xfrm>
          <a:prstGeom prst="rect">
            <a:avLst/>
          </a:prstGeom>
        </p:spPr>
        <p:txBody>
          <a:bodyPr lIns="0" tIns="0" rIns="0" bIns="0" rtlCol="0" anchor="t">
            <a:spAutoFit/>
          </a:bodyPr>
          <a:lstStyle/>
          <a:p>
            <a:pPr algn="ctr">
              <a:lnSpc>
                <a:spcPts val="7279"/>
              </a:lnSpc>
            </a:pPr>
            <a:r>
              <a:rPr lang="en-US" sz="5199" b="1">
                <a:solidFill>
                  <a:srgbClr val="262262"/>
                </a:solidFill>
                <a:latin typeface="Source Han Sans JP Bold"/>
                <a:ea typeface="Source Han Sans JP Bold"/>
                <a:cs typeface="Source Han Sans JP Bold"/>
                <a:sym typeface="Source Han Sans JP Bold"/>
              </a:rPr>
              <a:t>・業者が来ても外しか見ない</a:t>
            </a:r>
          </a:p>
        </p:txBody>
      </p:sp>
      <p:sp>
        <p:nvSpPr>
          <p:cNvPr id="13" name="TextBox 13"/>
          <p:cNvSpPr txBox="1"/>
          <p:nvPr/>
        </p:nvSpPr>
        <p:spPr>
          <a:xfrm>
            <a:off x="814320" y="7781925"/>
            <a:ext cx="10695014" cy="887095"/>
          </a:xfrm>
          <a:prstGeom prst="rect">
            <a:avLst/>
          </a:prstGeom>
        </p:spPr>
        <p:txBody>
          <a:bodyPr lIns="0" tIns="0" rIns="0" bIns="0" rtlCol="0" anchor="t">
            <a:spAutoFit/>
          </a:bodyPr>
          <a:lstStyle/>
          <a:p>
            <a:pPr algn="ctr">
              <a:lnSpc>
                <a:spcPts val="7279"/>
              </a:lnSpc>
            </a:pPr>
            <a:r>
              <a:rPr lang="en-US" sz="5199" b="1">
                <a:solidFill>
                  <a:srgbClr val="262262"/>
                </a:solidFill>
                <a:latin typeface="Source Han Sans JP Bold"/>
                <a:ea typeface="Source Han Sans JP Bold"/>
                <a:cs typeface="Source Han Sans JP Bold"/>
                <a:sym typeface="Source Han Sans JP Bold"/>
              </a:rPr>
              <a:t>・点検商法などの詐欺が怖い</a:t>
            </a:r>
          </a:p>
        </p:txBody>
      </p:sp>
      <p:sp>
        <p:nvSpPr>
          <p:cNvPr id="14" name="TextBox 14"/>
          <p:cNvSpPr txBox="1"/>
          <p:nvPr/>
        </p:nvSpPr>
        <p:spPr>
          <a:xfrm>
            <a:off x="11509334" y="5404263"/>
            <a:ext cx="8067500" cy="1360921"/>
          </a:xfrm>
          <a:prstGeom prst="rect">
            <a:avLst/>
          </a:prstGeom>
        </p:spPr>
        <p:txBody>
          <a:bodyPr lIns="0" tIns="0" rIns="0" bIns="0" rtlCol="0" anchor="t">
            <a:spAutoFit/>
          </a:bodyPr>
          <a:lstStyle/>
          <a:p>
            <a:pPr algn="ctr">
              <a:lnSpc>
                <a:spcPts val="5491"/>
              </a:lnSpc>
            </a:pPr>
            <a:r>
              <a:rPr lang="en-US" sz="3922" b="1">
                <a:solidFill>
                  <a:srgbClr val="262262"/>
                </a:solidFill>
                <a:latin typeface="Source Han Sans JP Bold"/>
                <a:ea typeface="Source Han Sans JP Bold"/>
                <a:cs typeface="Source Han Sans JP Bold"/>
                <a:sym typeface="Source Han Sans JP Bold"/>
              </a:rPr>
              <a:t>この建物は</a:t>
            </a:r>
          </a:p>
          <a:p>
            <a:pPr algn="ctr">
              <a:lnSpc>
                <a:spcPts val="5491"/>
              </a:lnSpc>
            </a:pPr>
            <a:r>
              <a:rPr lang="en-US" sz="3922" b="1">
                <a:solidFill>
                  <a:srgbClr val="262262"/>
                </a:solidFill>
                <a:latin typeface="Source Han Sans JP Bold"/>
                <a:ea typeface="Source Han Sans JP Bold"/>
                <a:cs typeface="Source Han Sans JP Bold"/>
                <a:sym typeface="Source Han Sans JP Bold"/>
              </a:rPr>
              <a:t>大丈夫なのか？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9" name="TextBox 9"/>
          <p:cNvSpPr txBox="1"/>
          <p:nvPr/>
        </p:nvSpPr>
        <p:spPr>
          <a:xfrm>
            <a:off x="2726606" y="338429"/>
            <a:ext cx="7285230" cy="1438124"/>
          </a:xfrm>
          <a:prstGeom prst="rect">
            <a:avLst/>
          </a:prstGeom>
        </p:spPr>
        <p:txBody>
          <a:bodyPr lIns="0" tIns="0" rIns="0" bIns="0" rtlCol="0" anchor="t">
            <a:spAutoFit/>
          </a:bodyPr>
          <a:lstStyle/>
          <a:p>
            <a:pPr algn="l">
              <a:lnSpc>
                <a:spcPts val="6872"/>
              </a:lnSpc>
            </a:pPr>
            <a:r>
              <a:rPr lang="en-US" sz="5976" b="1" spc="597" dirty="0" err="1">
                <a:solidFill>
                  <a:srgbClr val="FFFFFF"/>
                </a:solidFill>
                <a:latin typeface="モトヤゴシック w Semi-Bold"/>
                <a:ea typeface="モトヤゴシック w Semi-Bold"/>
                <a:cs typeface="モトヤゴシック w Semi-Bold"/>
                <a:sym typeface="モトヤゴシック w Semi-Bold"/>
              </a:rPr>
              <a:t>課題解決に向けて</a:t>
            </a:r>
            <a:endParaRPr lang="en-US" sz="5976" b="1" spc="597"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0" name="TextBox 10"/>
          <p:cNvSpPr txBox="1"/>
          <p:nvPr/>
        </p:nvSpPr>
        <p:spPr>
          <a:xfrm>
            <a:off x="-68724" y="258783"/>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02</a:t>
            </a:r>
          </a:p>
        </p:txBody>
      </p:sp>
      <p:sp>
        <p:nvSpPr>
          <p:cNvPr id="11" name="TextBox 11"/>
          <p:cNvSpPr txBox="1"/>
          <p:nvPr/>
        </p:nvSpPr>
        <p:spPr>
          <a:xfrm>
            <a:off x="1824414" y="2238059"/>
            <a:ext cx="4601385" cy="1377760"/>
          </a:xfrm>
          <a:prstGeom prst="rect">
            <a:avLst/>
          </a:prstGeom>
        </p:spPr>
        <p:txBody>
          <a:bodyPr lIns="0" tIns="0" rIns="0" bIns="0" rtlCol="0" anchor="t">
            <a:spAutoFit/>
          </a:bodyPr>
          <a:lstStyle/>
          <a:p>
            <a:pPr algn="ctr">
              <a:lnSpc>
                <a:spcPts val="7247"/>
              </a:lnSpc>
              <a:spcBef>
                <a:spcPct val="0"/>
              </a:spcBef>
            </a:pPr>
            <a:r>
              <a:rPr lang="en-US" sz="5176" b="1">
                <a:solidFill>
                  <a:srgbClr val="262262"/>
                </a:solidFill>
                <a:latin typeface="モトヤゴシック w Bold"/>
                <a:ea typeface="モトヤゴシック w Bold"/>
                <a:cs typeface="モトヤゴシック w Bold"/>
                <a:sym typeface="モトヤゴシック w Bold"/>
              </a:rPr>
              <a:t>専門知識なしで</a:t>
            </a:r>
          </a:p>
        </p:txBody>
      </p:sp>
      <p:sp>
        <p:nvSpPr>
          <p:cNvPr id="12" name="TextBox 12"/>
          <p:cNvSpPr txBox="1"/>
          <p:nvPr/>
        </p:nvSpPr>
        <p:spPr>
          <a:xfrm>
            <a:off x="2726606" y="4018868"/>
            <a:ext cx="2531232" cy="933269"/>
          </a:xfrm>
          <a:prstGeom prst="rect">
            <a:avLst/>
          </a:prstGeom>
        </p:spPr>
        <p:txBody>
          <a:bodyPr wrap="square" lIns="0" tIns="0" rIns="0" bIns="0" rtlCol="0" anchor="t">
            <a:spAutoFit/>
          </a:bodyPr>
          <a:lstStyle/>
          <a:p>
            <a:pPr algn="ctr">
              <a:lnSpc>
                <a:spcPts val="8324"/>
              </a:lnSpc>
              <a:spcBef>
                <a:spcPct val="0"/>
              </a:spcBef>
            </a:pPr>
            <a:r>
              <a:rPr lang="en-US" sz="5946" b="1" dirty="0" err="1">
                <a:solidFill>
                  <a:srgbClr val="262262"/>
                </a:solidFill>
                <a:latin typeface="モトヤゴシック w Bold"/>
                <a:ea typeface="モトヤゴシック w Bold"/>
                <a:cs typeface="モトヤゴシック w Bold"/>
                <a:sym typeface="モトヤゴシック w Bold"/>
              </a:rPr>
              <a:t>簡単に</a:t>
            </a:r>
            <a:endParaRPr lang="en-US" sz="5946" b="1" dirty="0">
              <a:solidFill>
                <a:srgbClr val="262262"/>
              </a:solidFill>
              <a:latin typeface="モトヤゴシック w Bold"/>
              <a:ea typeface="モトヤゴシック w Bold"/>
              <a:cs typeface="モトヤゴシック w Bold"/>
              <a:sym typeface="モトヤゴシック w Bold"/>
            </a:endParaRPr>
          </a:p>
        </p:txBody>
      </p:sp>
      <p:sp>
        <p:nvSpPr>
          <p:cNvPr id="13" name="TextBox 13"/>
          <p:cNvSpPr txBox="1"/>
          <p:nvPr/>
        </p:nvSpPr>
        <p:spPr>
          <a:xfrm>
            <a:off x="698364" y="5744646"/>
            <a:ext cx="6587715" cy="1853071"/>
          </a:xfrm>
          <a:prstGeom prst="rect">
            <a:avLst/>
          </a:prstGeom>
        </p:spPr>
        <p:txBody>
          <a:bodyPr wrap="square" lIns="0" tIns="0" rIns="0" bIns="0" rtlCol="0" anchor="t">
            <a:spAutoFit/>
          </a:bodyPr>
          <a:lstStyle/>
          <a:p>
            <a:pPr algn="ctr">
              <a:lnSpc>
                <a:spcPts val="7713"/>
              </a:lnSpc>
            </a:pPr>
            <a:r>
              <a:rPr lang="en-US" sz="5509" b="1" dirty="0" err="1">
                <a:solidFill>
                  <a:srgbClr val="262262"/>
                </a:solidFill>
                <a:latin typeface="モトヤゴシック w Bold"/>
                <a:ea typeface="モトヤゴシック w Bold"/>
                <a:cs typeface="モトヤゴシック w Bold"/>
                <a:sym typeface="モトヤゴシック w Bold"/>
              </a:rPr>
              <a:t>建物の被害状況を</a:t>
            </a:r>
            <a:endParaRPr lang="en-US" sz="5509" b="1" dirty="0">
              <a:solidFill>
                <a:srgbClr val="262262"/>
              </a:solidFill>
              <a:latin typeface="モトヤゴシック w Bold"/>
              <a:ea typeface="モトヤゴシック w Bold"/>
              <a:cs typeface="モトヤゴシック w Bold"/>
              <a:sym typeface="モトヤゴシック w Bold"/>
            </a:endParaRPr>
          </a:p>
          <a:p>
            <a:pPr algn="ctr">
              <a:lnSpc>
                <a:spcPts val="7713"/>
              </a:lnSpc>
              <a:spcBef>
                <a:spcPct val="0"/>
              </a:spcBef>
            </a:pPr>
            <a:r>
              <a:rPr lang="en-US" sz="5509" b="1" dirty="0" err="1">
                <a:solidFill>
                  <a:srgbClr val="262262"/>
                </a:solidFill>
                <a:latin typeface="モトヤゴシック w Bold"/>
                <a:ea typeface="モトヤゴシック w Bold"/>
                <a:cs typeface="モトヤゴシック w Bold"/>
                <a:sym typeface="モトヤゴシック w Bold"/>
              </a:rPr>
              <a:t>確認できるシステム</a:t>
            </a:r>
            <a:endParaRPr lang="en-US" sz="5509" b="1" dirty="0">
              <a:solidFill>
                <a:srgbClr val="262262"/>
              </a:solidFill>
              <a:latin typeface="モトヤゴシック w Bold"/>
              <a:ea typeface="モトヤゴシック w Bold"/>
              <a:cs typeface="モトヤゴシック w Bold"/>
              <a:sym typeface="モトヤゴシック w Bold"/>
            </a:endParaRPr>
          </a:p>
        </p:txBody>
      </p:sp>
      <p:pic>
        <p:nvPicPr>
          <p:cNvPr id="15" name="図 14">
            <a:extLst>
              <a:ext uri="{FF2B5EF4-FFF2-40B4-BE49-F238E27FC236}">
                <a16:creationId xmlns:a16="http://schemas.microsoft.com/office/drawing/2014/main" id="{D9A1F62E-1038-1029-CB66-FC2AFAC9EA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1506" y="1990056"/>
            <a:ext cx="5162603" cy="2393640"/>
          </a:xfrm>
          <a:prstGeom prst="rect">
            <a:avLst/>
          </a:prstGeom>
        </p:spPr>
      </p:pic>
      <p:pic>
        <p:nvPicPr>
          <p:cNvPr id="17" name="図 16">
            <a:extLst>
              <a:ext uri="{FF2B5EF4-FFF2-40B4-BE49-F238E27FC236}">
                <a16:creationId xmlns:a16="http://schemas.microsoft.com/office/drawing/2014/main" id="{D1837D39-BC17-0F03-2858-DA76070A16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0212" y="1950029"/>
            <a:ext cx="5162603" cy="2423193"/>
          </a:xfrm>
          <a:prstGeom prst="rect">
            <a:avLst/>
          </a:prstGeom>
        </p:spPr>
      </p:pic>
      <p:pic>
        <p:nvPicPr>
          <p:cNvPr id="19" name="図 18">
            <a:extLst>
              <a:ext uri="{FF2B5EF4-FFF2-40B4-BE49-F238E27FC236}">
                <a16:creationId xmlns:a16="http://schemas.microsoft.com/office/drawing/2014/main" id="{801381DC-9E45-D079-C146-262995F738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85402" y="4411538"/>
            <a:ext cx="5194810" cy="2452042"/>
          </a:xfrm>
          <a:prstGeom prst="rect">
            <a:avLst/>
          </a:prstGeom>
        </p:spPr>
      </p:pic>
      <p:pic>
        <p:nvPicPr>
          <p:cNvPr id="21" name="図 20">
            <a:extLst>
              <a:ext uri="{FF2B5EF4-FFF2-40B4-BE49-F238E27FC236}">
                <a16:creationId xmlns:a16="http://schemas.microsoft.com/office/drawing/2014/main" id="{9A24DB79-A477-F39C-1B27-0238B25DA75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980212" y="4564539"/>
            <a:ext cx="5194810" cy="2395833"/>
          </a:xfrm>
          <a:prstGeom prst="rect">
            <a:avLst/>
          </a:prstGeom>
        </p:spPr>
      </p:pic>
      <p:pic>
        <p:nvPicPr>
          <p:cNvPr id="23" name="図 22">
            <a:extLst>
              <a:ext uri="{FF2B5EF4-FFF2-40B4-BE49-F238E27FC236}">
                <a16:creationId xmlns:a16="http://schemas.microsoft.com/office/drawing/2014/main" id="{87848908-1274-F797-B7F0-30F72BF839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94101" y="7113373"/>
            <a:ext cx="6328319" cy="29341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grpSp>
        <p:nvGrpSpPr>
          <p:cNvPr id="8" name="Group 8"/>
          <p:cNvGrpSpPr/>
          <p:nvPr/>
        </p:nvGrpSpPr>
        <p:grpSpPr>
          <a:xfrm>
            <a:off x="6729719" y="3899617"/>
            <a:ext cx="2845058" cy="3343693"/>
            <a:chOff x="0" y="0"/>
            <a:chExt cx="3793411" cy="4458258"/>
          </a:xfrm>
        </p:grpSpPr>
        <p:sp>
          <p:nvSpPr>
            <p:cNvPr id="9" name="Freeform 9"/>
            <p:cNvSpPr/>
            <p:nvPr/>
          </p:nvSpPr>
          <p:spPr>
            <a:xfrm>
              <a:off x="2173676" y="0"/>
              <a:ext cx="1619735" cy="1619735"/>
            </a:xfrm>
            <a:custGeom>
              <a:avLst/>
              <a:gdLst/>
              <a:ahLst/>
              <a:cxnLst/>
              <a:rect l="l" t="t" r="r" b="b"/>
              <a:pathLst>
                <a:path w="1619735" h="1619735">
                  <a:moveTo>
                    <a:pt x="0" y="0"/>
                  </a:moveTo>
                  <a:lnTo>
                    <a:pt x="1619735" y="0"/>
                  </a:lnTo>
                  <a:lnTo>
                    <a:pt x="1619735" y="1619735"/>
                  </a:lnTo>
                  <a:lnTo>
                    <a:pt x="0" y="16197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10" name="Freeform 10"/>
            <p:cNvSpPr/>
            <p:nvPr/>
          </p:nvSpPr>
          <p:spPr>
            <a:xfrm>
              <a:off x="0" y="1974056"/>
              <a:ext cx="2173676" cy="2484202"/>
            </a:xfrm>
            <a:custGeom>
              <a:avLst/>
              <a:gdLst/>
              <a:ahLst/>
              <a:cxnLst/>
              <a:rect l="l" t="t" r="r" b="b"/>
              <a:pathLst>
                <a:path w="2173676" h="2484202">
                  <a:moveTo>
                    <a:pt x="0" y="0"/>
                  </a:moveTo>
                  <a:lnTo>
                    <a:pt x="2173676" y="0"/>
                  </a:lnTo>
                  <a:lnTo>
                    <a:pt x="2173676" y="2484202"/>
                  </a:lnTo>
                  <a:lnTo>
                    <a:pt x="0" y="2484202"/>
                  </a:lnTo>
                  <a:lnTo>
                    <a:pt x="0" y="0"/>
                  </a:lnTo>
                  <a:close/>
                </a:path>
              </a:pathLst>
            </a:custGeom>
            <a:blipFill>
              <a:blip r:embed="rId4"/>
              <a:stretch>
                <a:fillRect/>
              </a:stretch>
            </a:blipFill>
          </p:spPr>
          <p:txBody>
            <a:bodyPr/>
            <a:lstStyle/>
            <a:p>
              <a:endParaRPr lang="ja-JP" altLang="en-US"/>
            </a:p>
          </p:txBody>
        </p:sp>
      </p:grpSp>
      <p:sp>
        <p:nvSpPr>
          <p:cNvPr id="11" name="Freeform 11"/>
          <p:cNvSpPr/>
          <p:nvPr/>
        </p:nvSpPr>
        <p:spPr>
          <a:xfrm>
            <a:off x="211811" y="8292407"/>
            <a:ext cx="1976970" cy="2007076"/>
          </a:xfrm>
          <a:custGeom>
            <a:avLst/>
            <a:gdLst/>
            <a:ahLst/>
            <a:cxnLst/>
            <a:rect l="l" t="t" r="r" b="b"/>
            <a:pathLst>
              <a:path w="1976970" h="2007076">
                <a:moveTo>
                  <a:pt x="0" y="0"/>
                </a:moveTo>
                <a:lnTo>
                  <a:pt x="1976970" y="0"/>
                </a:lnTo>
                <a:lnTo>
                  <a:pt x="1976970" y="2007076"/>
                </a:lnTo>
                <a:lnTo>
                  <a:pt x="0" y="200707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ja-JP" altLang="en-US"/>
          </a:p>
        </p:txBody>
      </p:sp>
      <p:sp>
        <p:nvSpPr>
          <p:cNvPr id="12" name="Freeform 12"/>
          <p:cNvSpPr/>
          <p:nvPr/>
        </p:nvSpPr>
        <p:spPr>
          <a:xfrm rot="5400000">
            <a:off x="4102073" y="5405464"/>
            <a:ext cx="1898923" cy="626645"/>
          </a:xfrm>
          <a:custGeom>
            <a:avLst/>
            <a:gdLst/>
            <a:ahLst/>
            <a:cxnLst/>
            <a:rect l="l" t="t" r="r" b="b"/>
            <a:pathLst>
              <a:path w="1898923" h="626645">
                <a:moveTo>
                  <a:pt x="0" y="0"/>
                </a:moveTo>
                <a:lnTo>
                  <a:pt x="1898923" y="0"/>
                </a:lnTo>
                <a:lnTo>
                  <a:pt x="1898923" y="626644"/>
                </a:lnTo>
                <a:lnTo>
                  <a:pt x="0" y="62664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ja-JP" altLang="en-US"/>
          </a:p>
        </p:txBody>
      </p:sp>
      <p:sp>
        <p:nvSpPr>
          <p:cNvPr id="13" name="Freeform 13"/>
          <p:cNvSpPr/>
          <p:nvPr/>
        </p:nvSpPr>
        <p:spPr>
          <a:xfrm>
            <a:off x="14999001" y="2067407"/>
            <a:ext cx="2917308" cy="3070851"/>
          </a:xfrm>
          <a:custGeom>
            <a:avLst/>
            <a:gdLst/>
            <a:ahLst/>
            <a:cxnLst/>
            <a:rect l="l" t="t" r="r" b="b"/>
            <a:pathLst>
              <a:path w="2917308" h="3070851">
                <a:moveTo>
                  <a:pt x="0" y="0"/>
                </a:moveTo>
                <a:lnTo>
                  <a:pt x="2917309" y="0"/>
                </a:lnTo>
                <a:lnTo>
                  <a:pt x="2917309" y="3070851"/>
                </a:lnTo>
                <a:lnTo>
                  <a:pt x="0" y="3070851"/>
                </a:lnTo>
                <a:lnTo>
                  <a:pt x="0" y="0"/>
                </a:lnTo>
                <a:close/>
              </a:path>
            </a:pathLst>
          </a:custGeom>
          <a:blipFill>
            <a:blip r:embed="rId7"/>
            <a:stretch>
              <a:fillRect/>
            </a:stretch>
          </a:blipFill>
        </p:spPr>
        <p:txBody>
          <a:bodyPr/>
          <a:lstStyle/>
          <a:p>
            <a:endParaRPr lang="ja-JP" altLang="en-US"/>
          </a:p>
        </p:txBody>
      </p:sp>
      <p:sp>
        <p:nvSpPr>
          <p:cNvPr id="14" name="TextBox 14"/>
          <p:cNvSpPr txBox="1"/>
          <p:nvPr/>
        </p:nvSpPr>
        <p:spPr>
          <a:xfrm>
            <a:off x="2743962" y="267146"/>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システムの概要</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5" name="TextBox 15"/>
          <p:cNvSpPr txBox="1"/>
          <p:nvPr/>
        </p:nvSpPr>
        <p:spPr>
          <a:xfrm>
            <a:off x="-68724" y="347540"/>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03</a:t>
            </a:r>
          </a:p>
        </p:txBody>
      </p:sp>
      <p:sp>
        <p:nvSpPr>
          <p:cNvPr id="16" name="TextBox 16"/>
          <p:cNvSpPr txBox="1"/>
          <p:nvPr/>
        </p:nvSpPr>
        <p:spPr>
          <a:xfrm>
            <a:off x="1950820" y="2422862"/>
            <a:ext cx="6201428" cy="1179970"/>
          </a:xfrm>
          <a:prstGeom prst="rect">
            <a:avLst/>
          </a:prstGeom>
        </p:spPr>
        <p:txBody>
          <a:bodyPr lIns="0" tIns="0" rIns="0" bIns="0" rtlCol="0" anchor="t">
            <a:spAutoFit/>
          </a:bodyPr>
          <a:lstStyle/>
          <a:p>
            <a:pPr algn="ctr">
              <a:lnSpc>
                <a:spcPts val="6215"/>
              </a:lnSpc>
              <a:spcBef>
                <a:spcPct val="0"/>
              </a:spcBef>
            </a:pPr>
            <a:r>
              <a:rPr lang="en-US" sz="4439" b="1">
                <a:solidFill>
                  <a:srgbClr val="262262"/>
                </a:solidFill>
                <a:latin typeface="モトヤゴシック w Bold"/>
                <a:ea typeface="モトヤゴシック w Bold"/>
                <a:cs typeface="モトヤゴシック w Bold"/>
                <a:sym typeface="モトヤゴシック w Bold"/>
              </a:rPr>
              <a:t>写真を撮影、情報を入力</a:t>
            </a:r>
          </a:p>
        </p:txBody>
      </p:sp>
      <p:sp>
        <p:nvSpPr>
          <p:cNvPr id="17" name="TextBox 17"/>
          <p:cNvSpPr txBox="1"/>
          <p:nvPr/>
        </p:nvSpPr>
        <p:spPr>
          <a:xfrm>
            <a:off x="2398012" y="7258520"/>
            <a:ext cx="5501870" cy="1269690"/>
          </a:xfrm>
          <a:prstGeom prst="rect">
            <a:avLst/>
          </a:prstGeom>
        </p:spPr>
        <p:txBody>
          <a:bodyPr lIns="0" tIns="0" rIns="0" bIns="0" rtlCol="0" anchor="t">
            <a:spAutoFit/>
          </a:bodyPr>
          <a:lstStyle/>
          <a:p>
            <a:pPr algn="ctr">
              <a:lnSpc>
                <a:spcPts val="6690"/>
              </a:lnSpc>
              <a:spcBef>
                <a:spcPct val="0"/>
              </a:spcBef>
            </a:pPr>
            <a:r>
              <a:rPr lang="en-US" sz="4779" b="1" dirty="0" err="1">
                <a:solidFill>
                  <a:srgbClr val="262262"/>
                </a:solidFill>
                <a:latin typeface="モトヤゴシック w Bold"/>
                <a:ea typeface="モトヤゴシック w Bold"/>
                <a:cs typeface="モトヤゴシック w Bold"/>
                <a:sym typeface="モトヤゴシック w Bold"/>
              </a:rPr>
              <a:t>AIが被害状況を分析</a:t>
            </a:r>
            <a:endParaRPr lang="en-US" sz="4779" b="1" dirty="0">
              <a:solidFill>
                <a:srgbClr val="262262"/>
              </a:solidFill>
              <a:latin typeface="モトヤゴシック w Bold"/>
              <a:ea typeface="モトヤゴシック w Bold"/>
              <a:cs typeface="モトヤゴシック w Bold"/>
              <a:sym typeface="モトヤゴシック w Bold"/>
            </a:endParaRPr>
          </a:p>
        </p:txBody>
      </p:sp>
      <p:grpSp>
        <p:nvGrpSpPr>
          <p:cNvPr id="18" name="Group 18"/>
          <p:cNvGrpSpPr/>
          <p:nvPr/>
        </p:nvGrpSpPr>
        <p:grpSpPr>
          <a:xfrm>
            <a:off x="10744200" y="2843299"/>
            <a:ext cx="6192311" cy="5036851"/>
            <a:chOff x="-256869" y="-590550"/>
            <a:chExt cx="8256414" cy="6715801"/>
          </a:xfrm>
        </p:grpSpPr>
        <p:sp>
          <p:nvSpPr>
            <p:cNvPr id="19" name="TextBox 19"/>
            <p:cNvSpPr txBox="1"/>
            <p:nvPr/>
          </p:nvSpPr>
          <p:spPr>
            <a:xfrm>
              <a:off x="0" y="-590550"/>
              <a:ext cx="4435886" cy="1652975"/>
            </a:xfrm>
            <a:prstGeom prst="rect">
              <a:avLst/>
            </a:prstGeom>
          </p:spPr>
          <p:txBody>
            <a:bodyPr lIns="0" tIns="0" rIns="0" bIns="0" rtlCol="0" anchor="t">
              <a:spAutoFit/>
            </a:bodyPr>
            <a:lstStyle/>
            <a:p>
              <a:pPr algn="ctr">
                <a:lnSpc>
                  <a:spcPts val="7335"/>
                </a:lnSpc>
                <a:spcBef>
                  <a:spcPct val="0"/>
                </a:spcBef>
              </a:pPr>
              <a:r>
                <a:rPr lang="en-US" sz="5239" b="1">
                  <a:solidFill>
                    <a:srgbClr val="262262"/>
                  </a:solidFill>
                  <a:latin typeface="モトヤゴシック w Bold"/>
                  <a:ea typeface="モトヤゴシック w Bold"/>
                  <a:cs typeface="モトヤゴシック w Bold"/>
                  <a:sym typeface="モトヤゴシック w Bold"/>
                </a:rPr>
                <a:t>・分析結果</a:t>
              </a:r>
            </a:p>
          </p:txBody>
        </p:sp>
        <p:sp>
          <p:nvSpPr>
            <p:cNvPr id="20" name="TextBox 20"/>
            <p:cNvSpPr txBox="1"/>
            <p:nvPr/>
          </p:nvSpPr>
          <p:spPr>
            <a:xfrm>
              <a:off x="0" y="2044934"/>
              <a:ext cx="5349875" cy="1666350"/>
            </a:xfrm>
            <a:prstGeom prst="rect">
              <a:avLst/>
            </a:prstGeom>
          </p:spPr>
          <p:txBody>
            <a:bodyPr lIns="0" tIns="0" rIns="0" bIns="0" rtlCol="0" anchor="t">
              <a:spAutoFit/>
            </a:bodyPr>
            <a:lstStyle/>
            <a:p>
              <a:pPr algn="ctr">
                <a:lnSpc>
                  <a:spcPts val="7371"/>
                </a:lnSpc>
                <a:spcBef>
                  <a:spcPct val="0"/>
                </a:spcBef>
              </a:pPr>
              <a:r>
                <a:rPr lang="en-US" sz="5265" b="1">
                  <a:solidFill>
                    <a:srgbClr val="262262"/>
                  </a:solidFill>
                  <a:latin typeface="モトヤゴシック w Bold"/>
                  <a:ea typeface="モトヤゴシック w Bold"/>
                  <a:cs typeface="モトヤゴシック w Bold"/>
                  <a:sym typeface="モトヤゴシック w Bold"/>
                </a:rPr>
                <a:t>・必要な対応</a:t>
              </a:r>
            </a:p>
          </p:txBody>
        </p:sp>
        <p:sp>
          <p:nvSpPr>
            <p:cNvPr id="21" name="TextBox 21"/>
            <p:cNvSpPr txBox="1"/>
            <p:nvPr/>
          </p:nvSpPr>
          <p:spPr>
            <a:xfrm>
              <a:off x="-256869" y="5030251"/>
              <a:ext cx="8256414" cy="1095000"/>
            </a:xfrm>
            <a:prstGeom prst="rect">
              <a:avLst/>
            </a:prstGeom>
          </p:spPr>
          <p:txBody>
            <a:bodyPr wrap="square" lIns="0" tIns="0" rIns="0" bIns="0" rtlCol="0" anchor="t">
              <a:spAutoFit/>
            </a:bodyPr>
            <a:lstStyle/>
            <a:p>
              <a:pPr algn="ctr">
                <a:lnSpc>
                  <a:spcPts val="7348"/>
                </a:lnSpc>
                <a:spcBef>
                  <a:spcPct val="0"/>
                </a:spcBef>
              </a:pPr>
              <a:r>
                <a:rPr lang="en-US" sz="5249" b="1" dirty="0">
                  <a:solidFill>
                    <a:srgbClr val="262262"/>
                  </a:solidFill>
                  <a:latin typeface="モトヤゴシック w Bold"/>
                  <a:ea typeface="モトヤゴシック w Bold"/>
                  <a:cs typeface="モトヤゴシック w Bold"/>
                  <a:sym typeface="モトヤゴシック w Bold"/>
                </a:rPr>
                <a:t>・</a:t>
              </a:r>
              <a:r>
                <a:rPr lang="en-US" sz="5249" b="1" dirty="0" err="1">
                  <a:solidFill>
                    <a:srgbClr val="262262"/>
                  </a:solidFill>
                  <a:latin typeface="モトヤゴシック w Bold"/>
                  <a:ea typeface="モトヤゴシック w Bold"/>
                  <a:cs typeface="モトヤゴシック w Bold"/>
                  <a:sym typeface="モトヤゴシック w Bold"/>
                </a:rPr>
                <a:t>過去の結果の履歴</a:t>
              </a:r>
              <a:endParaRPr lang="en-US" sz="5249" b="1" dirty="0">
                <a:solidFill>
                  <a:srgbClr val="262262"/>
                </a:solidFill>
                <a:latin typeface="モトヤゴシック w Bold"/>
                <a:ea typeface="モトヤゴシック w Bold"/>
                <a:cs typeface="モトヤゴシック w Bold"/>
                <a:sym typeface="モトヤゴシック w 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8" name="AutoShape 8"/>
          <p:cNvSpPr/>
          <p:nvPr/>
        </p:nvSpPr>
        <p:spPr>
          <a:xfrm flipV="1">
            <a:off x="2083225" y="4893359"/>
            <a:ext cx="14340730" cy="0"/>
          </a:xfrm>
          <a:prstGeom prst="line">
            <a:avLst/>
          </a:prstGeom>
          <a:ln w="38100" cap="flat">
            <a:solidFill>
              <a:srgbClr val="262262"/>
            </a:solidFill>
            <a:prstDash val="solid"/>
            <a:headEnd type="none" w="sm" len="sm"/>
            <a:tailEnd type="none" w="sm" len="sm"/>
          </a:ln>
        </p:spPr>
        <p:txBody>
          <a:bodyPr/>
          <a:lstStyle/>
          <a:p>
            <a:endParaRPr lang="ja-JP" altLang="en-US"/>
          </a:p>
        </p:txBody>
      </p:sp>
      <p:sp>
        <p:nvSpPr>
          <p:cNvPr id="9" name="Freeform 9"/>
          <p:cNvSpPr/>
          <p:nvPr/>
        </p:nvSpPr>
        <p:spPr>
          <a:xfrm>
            <a:off x="14064343" y="5792286"/>
            <a:ext cx="1888978" cy="3466014"/>
          </a:xfrm>
          <a:custGeom>
            <a:avLst/>
            <a:gdLst/>
            <a:ahLst/>
            <a:cxnLst/>
            <a:rect l="l" t="t" r="r" b="b"/>
            <a:pathLst>
              <a:path w="1888978" h="3466014">
                <a:moveTo>
                  <a:pt x="0" y="0"/>
                </a:moveTo>
                <a:lnTo>
                  <a:pt x="1888978" y="0"/>
                </a:lnTo>
                <a:lnTo>
                  <a:pt x="1888978" y="3466014"/>
                </a:lnTo>
                <a:lnTo>
                  <a:pt x="0" y="3466014"/>
                </a:lnTo>
                <a:lnTo>
                  <a:pt x="0" y="0"/>
                </a:lnTo>
                <a:close/>
              </a:path>
            </a:pathLst>
          </a:custGeom>
          <a:blipFill>
            <a:blip r:embed="rId3"/>
            <a:stretch>
              <a:fillRect/>
            </a:stretch>
          </a:blipFill>
        </p:spPr>
        <p:txBody>
          <a:bodyPr/>
          <a:lstStyle/>
          <a:p>
            <a:endParaRPr lang="ja-JP" altLang="en-US"/>
          </a:p>
        </p:txBody>
      </p:sp>
      <p:sp>
        <p:nvSpPr>
          <p:cNvPr id="10" name="TextBox 10"/>
          <p:cNvSpPr txBox="1"/>
          <p:nvPr/>
        </p:nvSpPr>
        <p:spPr>
          <a:xfrm>
            <a:off x="2726606" y="235953"/>
            <a:ext cx="10006093" cy="1438124"/>
          </a:xfrm>
          <a:prstGeom prst="rect">
            <a:avLst/>
          </a:prstGeom>
        </p:spPr>
        <p:txBody>
          <a:bodyPr lIns="0" tIns="0" rIns="0" bIns="0" rtlCol="0" anchor="t">
            <a:spAutoFit/>
          </a:bodyPr>
          <a:lstStyle/>
          <a:p>
            <a:pPr algn="l">
              <a:lnSpc>
                <a:spcPts val="6872"/>
              </a:lnSpc>
            </a:pPr>
            <a:r>
              <a:rPr lang="en-US" sz="5976" b="1" spc="597" dirty="0" err="1">
                <a:solidFill>
                  <a:srgbClr val="FFFFFF"/>
                </a:solidFill>
                <a:latin typeface="モトヤゴシック w Semi-Bold"/>
                <a:ea typeface="モトヤゴシック w Semi-Bold"/>
                <a:cs typeface="モトヤゴシック w Semi-Bold"/>
                <a:sym typeface="モトヤゴシック w Semi-Bold"/>
              </a:rPr>
              <a:t>まとめ</a:t>
            </a:r>
            <a:endParaRPr lang="en-US" sz="5976" b="1" spc="597"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1" name="TextBox 11"/>
          <p:cNvSpPr txBox="1"/>
          <p:nvPr/>
        </p:nvSpPr>
        <p:spPr>
          <a:xfrm>
            <a:off x="-254752" y="208389"/>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04</a:t>
            </a:r>
          </a:p>
        </p:txBody>
      </p:sp>
      <p:sp>
        <p:nvSpPr>
          <p:cNvPr id="12" name="TextBox 12"/>
          <p:cNvSpPr txBox="1"/>
          <p:nvPr/>
        </p:nvSpPr>
        <p:spPr>
          <a:xfrm>
            <a:off x="1786699" y="2261490"/>
            <a:ext cx="9522183" cy="887095"/>
          </a:xfrm>
          <a:prstGeom prst="rect">
            <a:avLst/>
          </a:prstGeom>
        </p:spPr>
        <p:txBody>
          <a:bodyPr wrap="square"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AIが写真から被害状況を分析</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3" name="TextBox 13"/>
          <p:cNvSpPr txBox="1"/>
          <p:nvPr/>
        </p:nvSpPr>
        <p:spPr>
          <a:xfrm>
            <a:off x="2261393" y="2886012"/>
            <a:ext cx="9525" cy="887095"/>
          </a:xfrm>
          <a:prstGeom prst="rect">
            <a:avLst/>
          </a:prstGeom>
        </p:spPr>
        <p:txBody>
          <a:bodyPr lIns="0" tIns="0" rIns="0" bIns="0" rtlCol="0" anchor="t">
            <a:spAutoFit/>
          </a:bodyPr>
          <a:lstStyle/>
          <a:p>
            <a:pPr algn="ctr">
              <a:lnSpc>
                <a:spcPts val="7279"/>
              </a:lnSpc>
            </a:pPr>
            <a:endParaRPr/>
          </a:p>
        </p:txBody>
      </p:sp>
      <p:sp>
        <p:nvSpPr>
          <p:cNvPr id="14" name="TextBox 14"/>
          <p:cNvSpPr txBox="1"/>
          <p:nvPr/>
        </p:nvSpPr>
        <p:spPr>
          <a:xfrm>
            <a:off x="2261393" y="3677857"/>
            <a:ext cx="9525" cy="887095"/>
          </a:xfrm>
          <a:prstGeom prst="rect">
            <a:avLst/>
          </a:prstGeom>
        </p:spPr>
        <p:txBody>
          <a:bodyPr lIns="0" tIns="0" rIns="0" bIns="0" rtlCol="0" anchor="t">
            <a:spAutoFit/>
          </a:bodyPr>
          <a:lstStyle/>
          <a:p>
            <a:pPr algn="ctr">
              <a:lnSpc>
                <a:spcPts val="7279"/>
              </a:lnSpc>
            </a:pPr>
            <a:endParaRPr/>
          </a:p>
        </p:txBody>
      </p:sp>
      <p:sp>
        <p:nvSpPr>
          <p:cNvPr id="15" name="TextBox 15"/>
          <p:cNvSpPr txBox="1"/>
          <p:nvPr/>
        </p:nvSpPr>
        <p:spPr>
          <a:xfrm>
            <a:off x="1762538" y="3475598"/>
            <a:ext cx="11756754" cy="887095"/>
          </a:xfrm>
          <a:prstGeom prst="rect">
            <a:avLst/>
          </a:prstGeom>
        </p:spPr>
        <p:txBody>
          <a:bodyPr wrap="square"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必要な対応（見積や業者）が分かる</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6" name="TextBox 16"/>
          <p:cNvSpPr txBox="1"/>
          <p:nvPr/>
        </p:nvSpPr>
        <p:spPr>
          <a:xfrm>
            <a:off x="1935955" y="5048250"/>
            <a:ext cx="2843591" cy="887095"/>
          </a:xfrm>
          <a:prstGeom prst="rect">
            <a:avLst/>
          </a:prstGeom>
        </p:spPr>
        <p:txBody>
          <a:bodyPr wrap="square" lIns="0" tIns="0" rIns="0" bIns="0" rtlCol="0" anchor="t">
            <a:spAutoFit/>
          </a:bodyPr>
          <a:lstStyle/>
          <a:p>
            <a:pPr algn="ctr">
              <a:lnSpc>
                <a:spcPts val="7279"/>
              </a:lnSpc>
            </a:pPr>
            <a:r>
              <a:rPr lang="en-US" sz="5199" b="1" dirty="0" err="1">
                <a:solidFill>
                  <a:srgbClr val="262262"/>
                </a:solidFill>
                <a:latin typeface="Source Han Sans JP Bold"/>
                <a:ea typeface="Source Han Sans JP Bold"/>
                <a:cs typeface="Source Han Sans JP Bold"/>
                <a:sym typeface="Source Han Sans JP Bold"/>
              </a:rPr>
              <a:t>留意事項</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7" name="TextBox 17"/>
          <p:cNvSpPr txBox="1"/>
          <p:nvPr/>
        </p:nvSpPr>
        <p:spPr>
          <a:xfrm>
            <a:off x="1935955" y="6144895"/>
            <a:ext cx="10239557" cy="887095"/>
          </a:xfrm>
          <a:prstGeom prst="rect">
            <a:avLst/>
          </a:prstGeom>
        </p:spPr>
        <p:txBody>
          <a:bodyPr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安全性を保障するものではない</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8" name="TextBox 18"/>
          <p:cNvSpPr txBox="1"/>
          <p:nvPr/>
        </p:nvSpPr>
        <p:spPr>
          <a:xfrm>
            <a:off x="1786699" y="7165340"/>
            <a:ext cx="11212003" cy="887095"/>
          </a:xfrm>
          <a:prstGeom prst="rect">
            <a:avLst/>
          </a:prstGeom>
        </p:spPr>
        <p:txBody>
          <a:bodyPr lIns="0" tIns="0" rIns="0" bIns="0" rtlCol="0" anchor="t">
            <a:spAutoFit/>
          </a:bodyPr>
          <a:lstStyle/>
          <a:p>
            <a:pPr algn="ctr">
              <a:lnSpc>
                <a:spcPts val="7279"/>
              </a:lnSpc>
            </a:pPr>
            <a:r>
              <a:rPr lang="en-US" sz="5199" b="1">
                <a:solidFill>
                  <a:srgbClr val="262262"/>
                </a:solidFill>
                <a:latin typeface="Source Han Sans JP Bold"/>
                <a:ea typeface="Source Han Sans JP Bold"/>
                <a:cs typeface="Source Han Sans JP Bold"/>
                <a:sym typeface="Source Han Sans JP Bold"/>
              </a:rPr>
              <a:t>・対象は戸建て住宅と集合住宅のみ</a:t>
            </a:r>
          </a:p>
        </p:txBody>
      </p:sp>
      <p:sp>
        <p:nvSpPr>
          <p:cNvPr id="19" name="Freeform 19"/>
          <p:cNvSpPr/>
          <p:nvPr/>
        </p:nvSpPr>
        <p:spPr>
          <a:xfrm>
            <a:off x="15008832" y="1841759"/>
            <a:ext cx="2917308" cy="3070851"/>
          </a:xfrm>
          <a:custGeom>
            <a:avLst/>
            <a:gdLst/>
            <a:ahLst/>
            <a:cxnLst/>
            <a:rect l="l" t="t" r="r" b="b"/>
            <a:pathLst>
              <a:path w="2917308" h="3070851">
                <a:moveTo>
                  <a:pt x="0" y="0"/>
                </a:moveTo>
                <a:lnTo>
                  <a:pt x="2917309" y="0"/>
                </a:lnTo>
                <a:lnTo>
                  <a:pt x="2917309" y="3070851"/>
                </a:lnTo>
                <a:lnTo>
                  <a:pt x="0" y="3070851"/>
                </a:lnTo>
                <a:lnTo>
                  <a:pt x="0" y="0"/>
                </a:lnTo>
                <a:close/>
              </a:path>
            </a:pathLst>
          </a:custGeom>
          <a:blipFill>
            <a:blip r:embed="rId4"/>
            <a:stretch>
              <a:fillRect/>
            </a:stretch>
          </a:blipFill>
        </p:spPr>
        <p:txBody>
          <a:bodyPr/>
          <a:lstStyle/>
          <a:p>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sp>
        <p:nvSpPr>
          <p:cNvPr id="5" name="TextBox 5"/>
          <p:cNvSpPr txBox="1"/>
          <p:nvPr/>
        </p:nvSpPr>
        <p:spPr>
          <a:xfrm>
            <a:off x="2827638" y="277368"/>
            <a:ext cx="14476116" cy="1457325"/>
          </a:xfrm>
          <a:prstGeom prst="rect">
            <a:avLst/>
          </a:prstGeom>
        </p:spPr>
        <p:txBody>
          <a:bodyPr lIns="0" tIns="0" rIns="0" bIns="0" rtlCol="0" anchor="t">
            <a:spAutoFit/>
          </a:bodyPr>
          <a:lstStyle/>
          <a:p>
            <a:pPr algn="l">
              <a:lnSpc>
                <a:spcPts val="6900"/>
              </a:lnSpc>
            </a:pPr>
            <a:r>
              <a:rPr lang="en-US" sz="6000" spc="600" dirty="0" err="1">
                <a:solidFill>
                  <a:srgbClr val="FFFFFF"/>
                </a:solidFill>
                <a:latin typeface="モトヤゴシック w"/>
                <a:ea typeface="モトヤゴシック w"/>
                <a:cs typeface="モトヤゴシック w"/>
                <a:sym typeface="モトヤゴシック w"/>
              </a:rPr>
              <a:t>利用イメージ</a:t>
            </a:r>
            <a:endParaRPr lang="en-US" sz="6000" spc="600" dirty="0">
              <a:solidFill>
                <a:srgbClr val="FFFFFF"/>
              </a:solidFill>
              <a:latin typeface="モトヤゴシック w"/>
              <a:ea typeface="モトヤゴシック w"/>
              <a:cs typeface="モトヤゴシック w"/>
              <a:sym typeface="モトヤゴシック w"/>
            </a:endParaRPr>
          </a:p>
        </p:txBody>
      </p:sp>
      <p:grpSp>
        <p:nvGrpSpPr>
          <p:cNvPr id="6" name="Group 6"/>
          <p:cNvGrpSpPr/>
          <p:nvPr/>
        </p:nvGrpSpPr>
        <p:grpSpPr>
          <a:xfrm>
            <a:off x="-769371" y="0"/>
            <a:ext cx="3167383" cy="1619250"/>
            <a:chOff x="0" y="0"/>
            <a:chExt cx="979343" cy="500666"/>
          </a:xfrm>
        </p:grpSpPr>
        <p:sp>
          <p:nvSpPr>
            <p:cNvPr id="7" name="Freeform 7"/>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8" name="TextBox 8"/>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9" name="TextBox 9"/>
          <p:cNvSpPr txBox="1"/>
          <p:nvPr/>
        </p:nvSpPr>
        <p:spPr>
          <a:xfrm>
            <a:off x="-254752" y="322712"/>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05</a:t>
            </a:r>
          </a:p>
        </p:txBody>
      </p:sp>
      <p:sp>
        <p:nvSpPr>
          <p:cNvPr id="10" name="TextBox 10"/>
          <p:cNvSpPr txBox="1"/>
          <p:nvPr/>
        </p:nvSpPr>
        <p:spPr>
          <a:xfrm>
            <a:off x="3657600" y="5048250"/>
            <a:ext cx="10769153" cy="887095"/>
          </a:xfrm>
          <a:prstGeom prst="rect">
            <a:avLst/>
          </a:prstGeom>
        </p:spPr>
        <p:txBody>
          <a:bodyPr wrap="square" lIns="0" tIns="0" rIns="0" bIns="0" rtlCol="0" anchor="t">
            <a:spAutoFit/>
          </a:bodyPr>
          <a:lstStyle/>
          <a:p>
            <a:pPr algn="ctr">
              <a:lnSpc>
                <a:spcPts val="7279"/>
              </a:lnSpc>
            </a:pPr>
            <a:r>
              <a:rPr lang="en-US" sz="5199" b="1" dirty="0" err="1">
                <a:solidFill>
                  <a:srgbClr val="262262"/>
                </a:solidFill>
                <a:latin typeface="Source Han Sans JP Bold"/>
                <a:ea typeface="Source Han Sans JP Bold"/>
                <a:cs typeface="Source Han Sans JP Bold"/>
                <a:sym typeface="Source Han Sans JP Bold"/>
              </a:rPr>
              <a:t>画面イメージを実際にお見せします</a:t>
            </a:r>
            <a:endParaRPr lang="en-US" sz="5199" b="1" dirty="0">
              <a:solidFill>
                <a:srgbClr val="262262"/>
              </a:solidFill>
              <a:latin typeface="Source Han Sans JP Bold"/>
              <a:ea typeface="Source Han Sans JP Bold"/>
              <a:cs typeface="Source Han Sans JP Bold"/>
              <a:sym typeface="Source Han Sans JP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2262"/>
        </a:solidFill>
        <a:effectLst/>
      </p:bgPr>
    </p:bg>
    <p:spTree>
      <p:nvGrpSpPr>
        <p:cNvPr id="1" name=""/>
        <p:cNvGrpSpPr/>
        <p:nvPr/>
      </p:nvGrpSpPr>
      <p:grpSpPr>
        <a:xfrm>
          <a:off x="0" y="0"/>
          <a:ext cx="0" cy="0"/>
          <a:chOff x="0" y="0"/>
          <a:chExt cx="0" cy="0"/>
        </a:xfrm>
      </p:grpSpPr>
      <p:sp>
        <p:nvSpPr>
          <p:cNvPr id="2" name="TextBox 2"/>
          <p:cNvSpPr txBox="1"/>
          <p:nvPr/>
        </p:nvSpPr>
        <p:spPr>
          <a:xfrm>
            <a:off x="2600263" y="5160946"/>
            <a:ext cx="13087475" cy="868680"/>
          </a:xfrm>
          <a:prstGeom prst="rect">
            <a:avLst/>
          </a:prstGeom>
        </p:spPr>
        <p:txBody>
          <a:bodyPr lIns="0" tIns="0" rIns="0" bIns="0" rtlCol="0" anchor="t">
            <a:spAutoFit/>
          </a:bodyPr>
          <a:lstStyle/>
          <a:p>
            <a:pPr marL="0" lvl="0" indent="0" algn="ctr">
              <a:lnSpc>
                <a:spcPts val="4799"/>
              </a:lnSpc>
            </a:pPr>
            <a:r>
              <a:rPr lang="en-US" sz="3199" b="1" u="none" strike="noStrike" spc="319">
                <a:solidFill>
                  <a:srgbClr val="FFFFFF"/>
                </a:solidFill>
                <a:latin typeface="モトヤゴシック w Medium"/>
                <a:ea typeface="モトヤゴシック w Medium"/>
                <a:cs typeface="モトヤゴシック w Medium"/>
                <a:sym typeface="モトヤゴシック w Medium"/>
              </a:rPr>
              <a:t>最後までご覧いただき、ありがとうございました。</a:t>
            </a:r>
          </a:p>
        </p:txBody>
      </p:sp>
      <p:sp>
        <p:nvSpPr>
          <p:cNvPr id="3" name="TextBox 3"/>
          <p:cNvSpPr txBox="1"/>
          <p:nvPr/>
        </p:nvSpPr>
        <p:spPr>
          <a:xfrm>
            <a:off x="5638800" y="3657299"/>
            <a:ext cx="6475958" cy="974626"/>
          </a:xfrm>
          <a:prstGeom prst="rect">
            <a:avLst/>
          </a:prstGeom>
        </p:spPr>
        <p:txBody>
          <a:bodyPr wrap="square" lIns="0" tIns="0" rIns="0" bIns="0" rtlCol="0" anchor="t">
            <a:spAutoFit/>
          </a:bodyPr>
          <a:lstStyle/>
          <a:p>
            <a:pPr algn="l">
              <a:lnSpc>
                <a:spcPts val="7562"/>
              </a:lnSpc>
            </a:pPr>
            <a:r>
              <a:rPr lang="en-US" sz="6576" b="1" spc="657" dirty="0">
                <a:solidFill>
                  <a:srgbClr val="FFFFFF"/>
                </a:solidFill>
                <a:latin typeface="モトヤゴシック w Semi-Bold"/>
                <a:ea typeface="モトヤゴシック w Semi-Bold"/>
                <a:cs typeface="モトヤゴシック w Semi-Bold"/>
                <a:sym typeface="モトヤゴシック w Semi-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2883</TotalTime>
  <Words>383</Words>
  <Application>Microsoft Office PowerPoint</Application>
  <PresentationFormat>ユーザー設定</PresentationFormat>
  <Paragraphs>76</Paragraphs>
  <Slides>8</Slides>
  <Notes>4</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8</vt:i4>
      </vt:variant>
    </vt:vector>
  </HeadingPairs>
  <TitlesOfParts>
    <vt:vector size="17" baseType="lpstr">
      <vt:lpstr>Source Han Sans JP Bold</vt:lpstr>
      <vt:lpstr>Calibri</vt:lpstr>
      <vt:lpstr>モトヤゴシック w Medium</vt:lpstr>
      <vt:lpstr>モトヤゴシック w</vt:lpstr>
      <vt:lpstr>游ゴシック</vt:lpstr>
      <vt:lpstr>Arial</vt:lpstr>
      <vt:lpstr>モトヤゴシック w Semi-Bold</vt:lpstr>
      <vt:lpstr>モトヤゴシック w Bold</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地震被害度測定アプリ</dc:title>
  <cp:lastModifiedBy>松田　駈琉</cp:lastModifiedBy>
  <cp:revision>4</cp:revision>
  <dcterms:created xsi:type="dcterms:W3CDTF">2006-08-16T00:00:00Z</dcterms:created>
  <dcterms:modified xsi:type="dcterms:W3CDTF">2026-10-22T00:40:59Z</dcterms:modified>
  <dc:identifier>DAHWuXGawwY</dc:identifier>
</cp:coreProperties>
</file>